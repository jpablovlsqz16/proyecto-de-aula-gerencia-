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embeddedFontLst>
    <p:embeddedFont>
      <p:font typeface="Nunito Sans" pitchFamily="34" charset="0"/>
      <p:regular r:id="rId15"/>
      <p:bold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[nombre]. Pitch de máximo 60 segundos con la plantilla de Moore (borrador para ajustar): Para los dueños de panaderías de punto caliente que deciden cuánto producir sin datos, el Tablero Pan Trenza es una aplicación web que convierte su Excel de producción en un tablero con cuatro indicadores: OEE del horno, SLA de pedidos, porcentaje de pan no vendido y productividad. A diferencia de Power BI o de un Excel suelto, no cobra licencias, funciona con un enlace y avisa con semáforos cuándo actuar. En la panadería piloto estimamos un ahorro cercano a 432.000 pesos al mes. Pedido: [completar, por ejemplo: un piloto en tres panaderías del barrio].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[nombre]. Con el filtro de idoneidad de la Agile Practice Guide el proyecto salió en 3,2, zona ágil. Por eso la aplicación se construyó con Scrum, mientras que lo que fija la guía (acta, EDT, presupuesto, riesgos e hitos) se manejó de forma predictiva. La documentación del informe se gestionó con Kanban. La forma de combinarlos es simultánea. Con MoSCoW el Must quedó en 52 % del esfuerzo, por debajo del 60 % recomendado. Hallazgo Lean: el lead time fue de 3 días pero el trabajo real tomó menos de 1 día; el resto fue espera.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[nombre]. Este es el CANVAS ampliado: los 9 bloques del Business Model Canvas (capa económica), más las capas ambiental y social y la vía de escalamiento. Propuesta de valor (encaje): dolores del dueño: pan que sobra, paros del horno sin explicación y pedidos tarde. Aliviadores: % no vendido diario, OEE con motivos de paro y SLA. Alegrías: perder menos plata y decidir rápido, con semáforos y filtros sin costo de licencias. Impactos: ambiental, energía mínima de dispositivos y nube; social, los operarios pueden ver el registro como control. Project Model Canvas: ¿Por qué? la panadería decide la producción sin datos. ¿Qué? una app web que carga el archivo y muestra el tablero. ¿Quién? dueño, operarios, docente como PO y el equipo de 4. ¿Cómo? Scrum para la app y datos simulados con autorización. ¿Cuándo y cuánto? entregas el 8 de septiembre y en octubre; $4,8 M en horas. Escalamiento en 4 fases, cada una con su validación: uso en todos los turnos, baja del no vendido general, panaderías que pagan la implementación y renovación de la suscripción.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[nombre]. Analizamos 10 factores PESTEL con fuente y corte a octubre de 2026, priorizados con probabilidad por impacto (alta 12 o más, media de 6 a 11). Las tres amenazas altas, resaltadas, pasaron al registro de riesgos: R13 inflación (respuesta: actualizar cada mes el costo por trenza y el ahorro), R14 salario mínimo (subir la productividad por hora-hombre) y R15 demanda estancada (ajustar la producción con el porcentaje de no vendido). Lectura: como el entorno sube los costos, el tablero gana valor porque evita sobreproducir y aprovecha mejor el horno con los mismos recursos.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[nombre]. Comparamos seis opciones: recursos propios, banca (Germina de Comfama), convocatorias (Fondo Emprender e iNNpulsa), incubadoras (Cantera UdeM), aceleradoras (Medellín Next de Ruta N) y crowdfunding (Vaki). La necesidad es de 4,8 millones, la misma inversión del business case, para escalar la app. Con seis criterios ponderados (elegibilidad, costo, monto, tiempo, control y valor no financiero) ganó la ruta A, recursos propios más la Cantera de Emprendedores UdeM, con 4,25. Sigue la jerarquía financiera de Myers y Majluf: primero fondos internos. El plan B es una campaña de recompensa en Vaki (3,70). Efecto de la tasa: con recursos propios al 12,41 % el VPN es de 3,55 millones; con crédito al 32,9 % baja a 2,29 y con microcrédito al 58,41 % a 1,24 millones, pero nunca se vuelve negativo.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[nombre]. El Sprint 1 se amplió de 2 a 4 días porque reunía 56 puntos, 28 por día. Las historias de la app van en cadena por Pull Request y QA era el cuello de botella. El Sprint 2 se desplazó dos días y terminó el 31 de octubre. En el Sprint 1 terminamos 53 de 56 puntos (94,6 %); la HU-07 solo quedó pendiente de aprobación. La evidencia está en el repositorio: 109 commits y 44 Pull Requests. Completar con los datos de E-22: tiempo estimado frente a real y SPI, CPI y EAC.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[nombre]. La aplicación quedó funcional: carga el Excel, valida las tablas, calcula los cuatro indicadores con semáforos, filtra por fechas y turno, muestra hallazgos automáticos y exporta o imprime. Las 33 pruebas automáticas pasan. Con un archivo distinto, el de octubre, los 7 indicadores dan igual que la hoja de verificación hecha aparte, y QA aprobó los casos E1 a E11 el 30 de octubre. El beneficio esperado es un ahorro cercano a 432.000 pesos al mes. Completar con E-24 (validación con el PO) y E-25 (lecciones aprendidas, plan de sostenimiento y acta de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Expone: [nombre]. Antes de la exposición: abrir el enlace en incógnito y tener a mano un archivo de respaldo (por ejemplo, el de noviembre o diciembre) por si falla la memoria USB. En la demo: cargar el archivo que entrega el docente, mostrar que valida las tablas, recorrer las cuatro tarjetas con su semáforo, leer un hallazgo automático, aplicar el filtro de turno y terminar exportando o imprimiendo. Cerrar con: gracias,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EFE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2A1E16"/>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latin typeface="Domine" charset="0"/>
              <a:ea typeface="Domine" charset="0"/>
              <a:cs typeface="Domine" charset="0"/>
            </a:endParaRPr>
          </a:p>
        </p:txBody>
      </p:sp>
      <p:sp>
        <p:nvSpPr>
          <p:cNvPr id="3" name="Text Placeholder 2"/>
          <p:cNvSpPr/>
          <p:nvPr>
            <p:ph idx="101" type="body"/>
          </p:nvPr>
        </p:nvSpPr>
        <p:spPr>
          <a:xfrm>
            <a:off x="812800" y="1564614"/>
            <a:ext cx="10566400" cy="4480586"/>
          </a:xfrm>
          <a:prstGeom prst="rect">
            <a:avLst/>
          </a:prstGeom>
          <a:noFill/>
          <a:ln/>
        </p:spPr>
        <p:txBody>
          <a:bodyPr wrap="square" lIns="0" tIns="0" rIns="0" bIns="0" rtlCol="0" anchor="t"/>
          <a:lstStyle>
            <a:lvl1pPr algn="l" indent="0" marL="0">
              <a:lnSpc>
                <a:spcPct val="140000"/>
              </a:lnSpc>
              <a:buNone/>
              <a:defRPr lang="en-US" sz="1600" dirty="0">
                <a:solidFill>
                  <a:srgbClr val="2A1E16"/>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latin typeface="Nunito Sans" charset="0"/>
              <a:ea typeface="Nunito Sans" charset="0"/>
              <a:cs typeface="Nunito Sans"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EFE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2A1E16"/>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latin typeface="Domine" charset="0"/>
              <a:ea typeface="Domine" charset="0"/>
              <a:cs typeface="Domine" charset="0"/>
            </a:endParaRPr>
          </a:p>
        </p:txBody>
      </p:sp>
      <p:sp>
        <p:nvSpPr>
          <p:cNvPr id="3" name="Text Placeholder 2"/>
          <p:cNvSpPr/>
          <p:nvPr>
            <p:ph idx="101" type="body"/>
          </p:nvPr>
        </p:nvSpPr>
        <p:spPr>
          <a:xfrm>
            <a:off x="812800" y="1564614"/>
            <a:ext cx="10566400" cy="4480586"/>
          </a:xfrm>
          <a:prstGeom prst="rect">
            <a:avLst/>
          </a:prstGeom>
          <a:noFill/>
          <a:ln/>
        </p:spPr>
        <p:txBody>
          <a:bodyPr wrap="square" lIns="0" tIns="0" rIns="0" bIns="0" rtlCol="0" anchor="t"/>
          <a:lstStyle>
            <a:lvl1pPr algn="l" indent="0" marL="0">
              <a:lnSpc>
                <a:spcPct val="140000"/>
              </a:lnSpc>
              <a:buNone/>
              <a:defRPr lang="en-US" sz="1600" dirty="0">
                <a:solidFill>
                  <a:srgbClr val="2A1E16"/>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latin typeface="Nunito Sans" charset="0"/>
              <a:ea typeface="Nunito Sans" charset="0"/>
              <a:cs typeface="Nunito Sans"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E1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8A35C"/>
                </a:solidFill>
                <a:latin typeface="Nunito Sans" pitchFamily="34" charset="0"/>
                <a:ea typeface="Nunito Sans" pitchFamily="34" charset="-122"/>
                <a:cs typeface="Nunito Sans" pitchFamily="34" charset="-120"/>
              </a:rPr>
              <a:t>SEGUNDA ENTREGA · GERENCIA DE PROYECTOS 2026-2</a:t>
            </a:r>
            <a:endParaRPr lang="en-US" sz="1200" dirty="0">
              <a:latin typeface="Nunito Sans" charset="0"/>
              <a:ea typeface="Nunito Sans" charset="0"/>
              <a:cs typeface="Nunito Sans" charset="0"/>
            </a:endParaRPr>
          </a:p>
        </p:txBody>
      </p:sp>
      <p:sp>
        <p:nvSpPr>
          <p:cNvPr id="3" name="Text 1"/>
          <p:cNvSpPr/>
          <p:nvPr>
            <p:ph type="title"/>
          </p:nvPr>
        </p:nvSpPr>
        <p:spPr>
          <a:xfrm>
            <a:off x="812800" y="1178520"/>
            <a:ext cx="9156700"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EFE3"/>
                </a:solidFill>
                <a:latin typeface="Domine" pitchFamily="18" charset="0"/>
                <a:ea typeface="Domine" pitchFamily="18" charset="-122"/>
                <a:cs typeface="Domine" pitchFamily="18" charset="-120"/>
              </a:rPr>
              <a:t>Tablero de indicadores del pan trenza</a:t>
            </a:r>
            <a:endParaRPr lang="en-US" sz="4800" dirty="0">
              <a:latin typeface="Domine" charset="0"/>
              <a:ea typeface="Domine" charset="0"/>
              <a:cs typeface="Domine" charset="0"/>
            </a:endParaRPr>
          </a:p>
        </p:txBody>
      </p:sp>
      <p:sp>
        <p:nvSpPr>
          <p:cNvPr id="4" name="Text 2"/>
          <p:cNvSpPr/>
          <p:nvPr/>
        </p:nvSpPr>
        <p:spPr>
          <a:xfrm>
            <a:off x="812800" y="2671961"/>
            <a:ext cx="8502650"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6D9C4"/>
                </a:solidFill>
                <a:latin typeface="Nunito Sans" pitchFamily="34" charset="0"/>
                <a:ea typeface="Nunito Sans" pitchFamily="34" charset="-122"/>
                <a:cs typeface="Nunito Sans" pitchFamily="34" charset="-120"/>
              </a:rPr>
              <a:t>Una aplicación propia que convierte el Excel de producción de la Panadería San Nicolás en un tablero de OEE, SLA, no vendido y productividad.</a:t>
            </a:r>
            <a:endParaRPr lang="en-US" sz="2000" dirty="0">
              <a:latin typeface="Nunito Sans" charset="0"/>
              <a:ea typeface="Nunito Sans" charset="0"/>
              <a:cs typeface="Nunito Sans" charset="0"/>
            </a:endParaRPr>
          </a:p>
        </p:txBody>
      </p:sp>
      <p:sp>
        <p:nvSpPr>
          <p:cNvPr id="5" name="Text 3"/>
          <p:cNvSpPr/>
          <p:nvPr/>
        </p:nvSpPr>
        <p:spPr>
          <a:xfrm>
            <a:off x="812800" y="5514380"/>
            <a:ext cx="685894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EFE3"/>
                </a:solidFill>
                <a:latin typeface="Nunito Sans" pitchFamily="34" charset="0"/>
                <a:ea typeface="Nunito Sans" pitchFamily="34" charset="-122"/>
                <a:cs typeface="Nunito Sans" pitchFamily="34" charset="-120"/>
              </a:rPr>
              <a:t>Juan Pablo · María Camila · Juan José · Iván Santiago</a:t>
            </a:r>
            <a:endParaRPr lang="en-US" sz="1500" dirty="0">
              <a:latin typeface="Nunito Sans" charset="0"/>
              <a:ea typeface="Nunito Sans" charset="0"/>
              <a:cs typeface="Nunito Sans" charset="0"/>
            </a:endParaRPr>
          </a:p>
        </p:txBody>
      </p:sp>
      <p:sp>
        <p:nvSpPr>
          <p:cNvPr id="6" name="Text 4"/>
          <p:cNvSpPr/>
          <p:nvPr/>
        </p:nvSpPr>
        <p:spPr>
          <a:xfrm>
            <a:off x="812800" y="5831880"/>
            <a:ext cx="799099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B89F"/>
                </a:solidFill>
                <a:latin typeface="Nunito Sans" pitchFamily="34" charset="0"/>
                <a:ea typeface="Nunito Sans" pitchFamily="34" charset="-122"/>
                <a:cs typeface="Nunito Sans" pitchFamily="34" charset="-120"/>
              </a:rPr>
              <a:t>Product Owner: Ronal Alexander Álvarez Valencia · Ingeniería Industrial · Universidad de Medellín</a:t>
            </a:r>
            <a:endParaRPr lang="en-US" sz="1200" dirty="0">
              <a:latin typeface="Nunito Sans" charset="0"/>
              <a:ea typeface="Nunito Sans" charset="0"/>
              <a:cs typeface="Nunito Sans" charset="0"/>
            </a:endParaRPr>
          </a:p>
        </p:txBody>
      </p:sp>
      <p:sp>
        <p:nvSpPr>
          <p:cNvPr id="7" name="Text 5"/>
          <p:cNvSpPr/>
          <p:nvPr/>
        </p:nvSpPr>
        <p:spPr>
          <a:xfrm>
            <a:off x="9982518" y="5831880"/>
            <a:ext cx="139668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B89F"/>
                </a:solidFill>
                <a:latin typeface="Nunito Sans" pitchFamily="34" charset="0"/>
                <a:ea typeface="Nunito Sans" pitchFamily="34" charset="-122"/>
                <a:cs typeface="Nunito Sans" pitchFamily="34" charset="-120"/>
              </a:rPr>
              <a:t>Octubre de 2026</a:t>
            </a:r>
            <a:endParaRPr lang="en-US" sz="1200" dirty="0">
              <a:latin typeface="Nunito Sans" charset="0"/>
              <a:ea typeface="Nunito Sans" charset="0"/>
              <a:cs typeface="Nunito Sans"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EFE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25831"/>
          </a:xfrm>
          <a:prstGeom prst="rect">
            <a:avLst/>
          </a:prstGeom>
          <a:noFill/>
          <a:ln/>
        </p:spPr>
        <p:txBody>
          <a:bodyPr wrap="square" lIns="0" tIns="0" rIns="0" bIns="0" rtlCol="0" anchor="t">
            <a:normAutofit/>
          </a:bodyPr>
          <a:lstStyle/>
          <a:p>
            <a:pPr algn="l" indent="0" marL="0">
              <a:lnSpc>
                <a:spcPts val="3157"/>
              </a:lnSpc>
              <a:buNone/>
            </a:pPr>
            <a:r>
              <a:rPr lang="en-US" sz="2870" b="1" i="0" dirty="0">
                <a:solidFill>
                  <a:srgbClr val="2A1E16"/>
                </a:solidFill>
                <a:latin typeface="Domine" pitchFamily="18" charset="0"/>
                <a:ea typeface="Domine" pitchFamily="18" charset="-122"/>
                <a:cs typeface="Domine" pitchFamily="18" charset="-120"/>
              </a:rPr>
              <a:t>Modelo híbrido: ágil para la app, predictivo para el gobierno</a:t>
            </a:r>
            <a:endParaRPr lang="en-US" sz="2870" dirty="0">
              <a:latin typeface="Domine" charset="0"/>
              <a:ea typeface="Domine" charset="0"/>
              <a:cs typeface="Domine" charset="0"/>
            </a:endParaRPr>
          </a:p>
        </p:txBody>
      </p:sp>
      <p:sp>
        <p:nvSpPr>
          <p:cNvPr id="3" name="Shape 1"/>
          <p:cNvSpPr/>
          <p:nvPr/>
        </p:nvSpPr>
        <p:spPr>
          <a:xfrm>
            <a:off x="812800" y="1918031"/>
            <a:ext cx="3048000" cy="2615671"/>
          </a:xfrm>
          <a:prstGeom prst="roundRect">
            <a:avLst>
              <a:gd name="adj" fmla="val 3884"/>
            </a:avLst>
          </a:prstGeom>
          <a:solidFill>
            <a:srgbClr val="2A1E16"/>
          </a:solidFill>
          <a:ln/>
        </p:spPr>
      </p:sp>
      <p:sp>
        <p:nvSpPr>
          <p:cNvPr id="4" name="Text 2"/>
          <p:cNvSpPr/>
          <p:nvPr/>
        </p:nvSpPr>
        <p:spPr>
          <a:xfrm>
            <a:off x="1117600" y="2222831"/>
            <a:ext cx="2511552" cy="207764"/>
          </a:xfrm>
          <a:prstGeom prst="rect">
            <a:avLst/>
          </a:prstGeom>
          <a:noFill/>
          <a:ln/>
        </p:spPr>
        <p:txBody>
          <a:bodyPr wrap="square" lIns="0" tIns="0" rIns="0" bIns="0" rtlCol="0" anchor="t">
            <a:normAutofit/>
          </a:bodyPr>
          <a:lstStyle/>
          <a:p>
            <a:pPr algn="l" indent="0" marL="0">
              <a:lnSpc>
                <a:spcPts val="1470"/>
              </a:lnSpc>
              <a:buNone/>
            </a:pPr>
            <a:r>
              <a:rPr lang="en-US" sz="1050" b="1" spc="100" kern="0" dirty="0">
                <a:solidFill>
                  <a:srgbClr val="E8A35C"/>
                </a:solidFill>
                <a:latin typeface="Nunito Sans" pitchFamily="34" charset="0"/>
                <a:ea typeface="Nunito Sans" pitchFamily="34" charset="-122"/>
                <a:cs typeface="Nunito Sans" pitchFamily="34" charset="-120"/>
              </a:rPr>
              <a:t>FILTRO DE IDONEIDAD</a:t>
            </a:r>
            <a:endParaRPr lang="en-US" sz="1050" dirty="0">
              <a:latin typeface="Nunito Sans" charset="0"/>
              <a:ea typeface="Nunito Sans" charset="0"/>
              <a:cs typeface="Nunito Sans" charset="0"/>
            </a:endParaRPr>
          </a:p>
        </p:txBody>
      </p:sp>
      <p:sp>
        <p:nvSpPr>
          <p:cNvPr id="5" name="Text 3"/>
          <p:cNvSpPr/>
          <p:nvPr/>
        </p:nvSpPr>
        <p:spPr>
          <a:xfrm>
            <a:off x="1117600" y="2506795"/>
            <a:ext cx="2511552" cy="546563"/>
          </a:xfrm>
          <a:prstGeom prst="rect">
            <a:avLst/>
          </a:prstGeom>
          <a:noFill/>
          <a:ln/>
        </p:spPr>
        <p:txBody>
          <a:bodyPr wrap="square" lIns="0" tIns="0" rIns="0" bIns="0" rtlCol="0" anchor="t">
            <a:normAutofit/>
          </a:bodyPr>
          <a:lstStyle/>
          <a:p>
            <a:pPr algn="l" indent="0" marL="0">
              <a:lnSpc>
                <a:spcPts val="4110"/>
              </a:lnSpc>
              <a:buNone/>
            </a:pPr>
            <a:r>
              <a:rPr lang="en-US" sz="4110" b="1" dirty="0">
                <a:solidFill>
                  <a:srgbClr val="F6EFE3"/>
                </a:solidFill>
                <a:latin typeface="Domine" pitchFamily="18" charset="0"/>
                <a:ea typeface="Domine" pitchFamily="18" charset="-122"/>
                <a:cs typeface="Domine" pitchFamily="18" charset="-120"/>
              </a:rPr>
              <a:t>3,2</a:t>
            </a:r>
            <a:endParaRPr lang="en-US" sz="4110" dirty="0">
              <a:latin typeface="Domine" charset="0"/>
              <a:ea typeface="Domine" charset="0"/>
              <a:cs typeface="Domine" charset="0"/>
            </a:endParaRPr>
          </a:p>
        </p:txBody>
      </p:sp>
      <p:sp>
        <p:nvSpPr>
          <p:cNvPr id="6" name="Text 4"/>
          <p:cNvSpPr/>
          <p:nvPr/>
        </p:nvSpPr>
        <p:spPr>
          <a:xfrm>
            <a:off x="1117600" y="3129558"/>
            <a:ext cx="2511552" cy="1124744"/>
          </a:xfrm>
          <a:prstGeom prst="rect">
            <a:avLst/>
          </a:prstGeom>
          <a:noFill/>
          <a:ln/>
        </p:spPr>
        <p:txBody>
          <a:bodyPr wrap="square" lIns="0" tIns="0" rIns="0" bIns="0" rtlCol="0" anchor="t">
            <a:normAutofit/>
          </a:bodyPr>
          <a:lstStyle/>
          <a:p>
            <a:pPr algn="l" indent="0" marL="0">
              <a:lnSpc>
                <a:spcPts val="2012"/>
              </a:lnSpc>
              <a:buNone/>
            </a:pPr>
            <a:r>
              <a:rPr lang="en-US" sz="1491" dirty="0">
                <a:solidFill>
                  <a:srgbClr val="F6EFE3"/>
                </a:solidFill>
                <a:latin typeface="Nunito Sans" pitchFamily="34" charset="0"/>
                <a:ea typeface="Nunito Sans" pitchFamily="34" charset="-122"/>
                <a:cs typeface="Nunito Sans" pitchFamily="34" charset="-120"/>
              </a:rPr>
              <a:t>Promedio de 9 preguntas: zona ágil. Experiencia del equipo (6) y acceso al cliente (5) caen en zona híbrida.</a:t>
            </a:r>
            <a:endParaRPr lang="en-US" sz="1491" dirty="0">
              <a:latin typeface="Nunito Sans" charset="0"/>
              <a:ea typeface="Nunito Sans" charset="0"/>
              <a:cs typeface="Nunito Sans" charset="0"/>
            </a:endParaR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78300" y="1930731"/>
          <a:ext cx="7200900" cy="2483842"/>
        </p:xfrm>
        <a:graphic>
          <a:graphicData uri="http://schemas.openxmlformats.org/drawingml/2006/table">
            <a:tbl>
              <a:tblPr/>
              <a:tblGrid>
                <a:gridCol w="2400300"/>
                <a:gridCol w="2400300"/>
                <a:gridCol w="2400300"/>
              </a:tblGrid>
              <a:tr h="378420">
                <a:tc>
                  <a:txBody>
                    <a:bodyPr/>
                    <a:lstStyle/>
                    <a:p>
                      <a:pPr indent="0" marL="0">
                        <a:lnSpc>
                          <a:spcPts val="1680"/>
                        </a:lnSpc>
                        <a:buNone/>
                      </a:pPr>
                      <a:r>
                        <a:rPr lang="en-US" sz="1200" b="1" dirty="0">
                          <a:solidFill>
                            <a:srgbClr val="2A1E16"/>
                          </a:solidFill>
                          <a:latin typeface="Nunito Sans" pitchFamily="34" charset="0"/>
                          <a:ea typeface="Nunito Sans" pitchFamily="34" charset="-122"/>
                          <a:cs typeface="Nunito Sans" pitchFamily="34" charset="-120"/>
                        </a:rPr>
                        <a:t>Entregable</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B6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6B1A8"/>
                      </a:solidFill>
                      <a:prstDash val="solid"/>
                      <a:round/>
                      <a:headEnd type="none" w="med" len="med"/>
                      <a:tailEnd type="none" w="med" len="med"/>
                    </a:lnB>
                    <a:solidFill>
                      <a:srgbClr val="E4DDD2"/>
                    </a:solidFill>
                  </a:tcPr>
                </a:tc>
                <a:tc>
                  <a:txBody>
                    <a:bodyPr/>
                    <a:lstStyle/>
                    <a:p>
                      <a:pPr indent="0" marL="0">
                        <a:lnSpc>
                          <a:spcPts val="1680"/>
                        </a:lnSpc>
                        <a:buNone/>
                      </a:pPr>
                      <a:r>
                        <a:rPr lang="en-US" sz="1200" b="1" dirty="0">
                          <a:solidFill>
                            <a:srgbClr val="2A1E16"/>
                          </a:solidFill>
                          <a:latin typeface="Nunito Sans" pitchFamily="34" charset="0"/>
                          <a:ea typeface="Nunito Sans" pitchFamily="34" charset="-122"/>
                          <a:cs typeface="Nunito Sans" pitchFamily="34" charset="-120"/>
                        </a:rPr>
                        <a:t>Zona (Stacey)</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B6B1A8"/>
                      </a:solidFill>
                      <a:prstDash val="solid"/>
                      <a:round/>
                      <a:headEnd type="none" w="med" len="med"/>
                      <a:tailEnd type="none" w="med" len="med"/>
                    </a:lnL>
                    <a:lnR w="12700" cap="flat" cmpd="sng" algn="ctr">
                      <a:solidFill>
                        <a:srgbClr val="B6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6B1A8"/>
                      </a:solidFill>
                      <a:prstDash val="solid"/>
                      <a:round/>
                      <a:headEnd type="none" w="med" len="med"/>
                      <a:tailEnd type="none" w="med" len="med"/>
                    </a:lnB>
                    <a:solidFill>
                      <a:srgbClr val="E4DDD2"/>
                    </a:solidFill>
                  </a:tcPr>
                </a:tc>
                <a:tc>
                  <a:txBody>
                    <a:bodyPr/>
                    <a:lstStyle/>
                    <a:p>
                      <a:pPr indent="0" marL="0">
                        <a:lnSpc>
                          <a:spcPts val="1680"/>
                        </a:lnSpc>
                        <a:buNone/>
                      </a:pPr>
                      <a:r>
                        <a:rPr lang="en-US" sz="1200" b="1" dirty="0">
                          <a:solidFill>
                            <a:srgbClr val="2A1E16"/>
                          </a:solidFill>
                          <a:latin typeface="Nunito Sans" pitchFamily="34" charset="0"/>
                          <a:ea typeface="Nunito Sans" pitchFamily="34" charset="-122"/>
                          <a:cs typeface="Nunito Sans" pitchFamily="34" charset="-120"/>
                        </a:rPr>
                        <a:t>Enfoque</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B6B1A8"/>
                      </a:solidFill>
                      <a:prstDash val="solid"/>
                      <a:round/>
                      <a:headEnd type="none" w="med" len="med"/>
                      <a:tailEnd type="none" w="med" len="med"/>
                    </a:lnL>
                    <a:lnR w="12700" cap="flat" cmpd="sng" algn="ctr">
                      <a:solidFill>
                        <a:srgbClr val="B6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6B1A8"/>
                      </a:solidFill>
                      <a:prstDash val="solid"/>
                      <a:round/>
                      <a:headEnd type="none" w="med" len="med"/>
                      <a:tailEnd type="none" w="med" len="med"/>
                    </a:lnB>
                    <a:solidFill>
                      <a:srgbClr val="E4DDD2"/>
                    </a:solidFill>
                  </a:tcPr>
                </a:tc>
              </a:tr>
              <a:tr h="591741">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Acta, EDT, presupuesto y riesgos</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6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Simple</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6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680"/>
                        </a:lnSpc>
                        <a:buNone/>
                      </a:pPr>
                      <a:r>
                        <a:rPr lang="en-US" sz="1200" dirty="0">
                          <a:solidFill>
                            <a:srgbClr val="2F5D8A"/>
                          </a:solidFill>
                          <a:latin typeface="Nunito Sans" pitchFamily="34" charset="0"/>
                          <a:ea typeface="Nunito Sans" pitchFamily="34" charset="-122"/>
                          <a:cs typeface="Nunito Sans" pitchFamily="34" charset="-120"/>
                        </a:rPr>
                        <a:t>Predictivo</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B6B1A8"/>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r>
              <a:tr h="378420">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Hitos de entrega</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Simple</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680"/>
                        </a:lnSpc>
                        <a:buNone/>
                      </a:pPr>
                      <a:r>
                        <a:rPr lang="en-US" sz="1200" dirty="0">
                          <a:solidFill>
                            <a:srgbClr val="2F5D8A"/>
                          </a:solidFill>
                          <a:latin typeface="Nunito Sans" pitchFamily="34" charset="0"/>
                          <a:ea typeface="Nunito Sans" pitchFamily="34" charset="-122"/>
                          <a:cs typeface="Nunito Sans" pitchFamily="34" charset="-120"/>
                        </a:rPr>
                        <a:t>Predictivo</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r>
              <a:tr h="378420">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Aplicación del tablero</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Complejo</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680"/>
                        </a:lnSpc>
                        <a:buNone/>
                      </a:pPr>
                      <a:r>
                        <a:rPr lang="en-US" sz="1200" dirty="0">
                          <a:solidFill>
                            <a:srgbClr val="B45309"/>
                          </a:solidFill>
                          <a:latin typeface="Nunito Sans" pitchFamily="34" charset="0"/>
                          <a:ea typeface="Nunito Sans" pitchFamily="34" charset="-122"/>
                          <a:cs typeface="Nunito Sans" pitchFamily="34" charset="-120"/>
                        </a:rPr>
                        <a:t>Ágil (Scrum)</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r>
              <a:tr h="378420">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Pruebas y validación</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Complicado</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680"/>
                        </a:lnSpc>
                        <a:buNone/>
                      </a:pPr>
                      <a:r>
                        <a:rPr lang="en-US" sz="1200" dirty="0">
                          <a:solidFill>
                            <a:srgbClr val="B45309"/>
                          </a:solidFill>
                          <a:latin typeface="Nunito Sans" pitchFamily="34" charset="0"/>
                          <a:ea typeface="Nunito Sans" pitchFamily="34" charset="-122"/>
                          <a:cs typeface="Nunito Sans" pitchFamily="34" charset="-120"/>
                        </a:rPr>
                        <a:t>Ágil</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r>
              <a:tr h="378420">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Documentación del informe</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Simple</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680"/>
                        </a:lnSpc>
                        <a:buNone/>
                      </a:pPr>
                      <a:r>
                        <a:rPr lang="en-US" sz="1200" dirty="0">
                          <a:solidFill>
                            <a:srgbClr val="B45309"/>
                          </a:solidFill>
                          <a:latin typeface="Nunito Sans" pitchFamily="34" charset="0"/>
                          <a:ea typeface="Nunito Sans" pitchFamily="34" charset="-122"/>
                          <a:cs typeface="Nunito Sans" pitchFamily="34" charset="-120"/>
                        </a:rPr>
                        <a:t>Kanban</a:t>
                      </a:r>
                      <a:endParaRPr lang="en-US" sz="1200" dirty="0">
                        <a:latin typeface="Nunito Sans" charset="0"/>
                        <a:ea typeface="Nunito Sans" charset="0"/>
                        <a:cs typeface="Nunito Sans" charset="0"/>
                      </a:endParaRPr>
                    </a:p>
                  </a:txBody>
                  <a:tcPr marL="101600" marR="101600" marT="76200" marB="762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r>
            </a:tbl>
          </a:graphicData>
        </a:graphic>
      </p:graphicFrame>
      <p:sp>
        <p:nvSpPr>
          <p:cNvPr id="8" name="Shape 5"/>
          <p:cNvSpPr/>
          <p:nvPr/>
        </p:nvSpPr>
        <p:spPr>
          <a:xfrm>
            <a:off x="815975" y="4841677"/>
            <a:ext cx="5175250" cy="997148"/>
          </a:xfrm>
          <a:prstGeom prst="roundRect">
            <a:avLst>
              <a:gd name="adj" fmla="val 9871"/>
            </a:avLst>
          </a:prstGeom>
          <a:solidFill>
            <a:srgbClr val="FFFAF2"/>
          </a:solidFill>
          <a:ln w="6350">
            <a:solidFill>
              <a:srgbClr val="E3D6C2"/>
            </a:solidFill>
            <a:prstDash val="solid"/>
          </a:ln>
        </p:spPr>
      </p:sp>
      <p:sp>
        <p:nvSpPr>
          <p:cNvPr id="9" name="Text 6"/>
          <p:cNvSpPr/>
          <p:nvPr/>
        </p:nvSpPr>
        <p:spPr>
          <a:xfrm>
            <a:off x="1071033" y="5045935"/>
            <a:ext cx="4805087" cy="213056"/>
          </a:xfrm>
          <a:prstGeom prst="rect">
            <a:avLst/>
          </a:prstGeom>
          <a:noFill/>
          <a:ln/>
        </p:spPr>
        <p:txBody>
          <a:bodyPr wrap="square" lIns="0" tIns="0" rIns="0" bIns="0" rtlCol="0" anchor="t">
            <a:normAutofit/>
          </a:bodyPr>
          <a:lstStyle/>
          <a:p>
            <a:pPr algn="l" indent="0" marL="0">
              <a:lnSpc>
                <a:spcPts val="1524"/>
              </a:lnSpc>
              <a:buNone/>
            </a:pPr>
            <a:r>
              <a:rPr lang="en-US" sz="1270" b="1" dirty="0">
                <a:solidFill>
                  <a:srgbClr val="2A1E16"/>
                </a:solidFill>
                <a:latin typeface="Nunito Sans" pitchFamily="34" charset="0"/>
                <a:ea typeface="Nunito Sans" pitchFamily="34" charset="-122"/>
                <a:cs typeface="Nunito Sans" pitchFamily="34" charset="-120"/>
              </a:rPr>
              <a:t>Combinación simultánea</a:t>
            </a:r>
            <a:endParaRPr lang="en-US" sz="1270" dirty="0">
              <a:latin typeface="Nunito Sans" charset="0"/>
              <a:ea typeface="Nunito Sans" charset="0"/>
              <a:cs typeface="Nunito Sans" charset="0"/>
            </a:endParaRPr>
          </a:p>
        </p:txBody>
      </p:sp>
      <p:sp>
        <p:nvSpPr>
          <p:cNvPr id="10" name="Text 7"/>
          <p:cNvSpPr/>
          <p:nvPr/>
        </p:nvSpPr>
        <p:spPr>
          <a:xfrm>
            <a:off x="1071033" y="5284391"/>
            <a:ext cx="4805087" cy="375576"/>
          </a:xfrm>
          <a:prstGeom prst="rect">
            <a:avLst/>
          </a:prstGeom>
          <a:noFill/>
          <a:ln/>
        </p:spPr>
        <p:txBody>
          <a:bodyPr wrap="square" lIns="0" tIns="0" rIns="0" bIns="0" rtlCol="0" anchor="t">
            <a:normAutofit/>
          </a:bodyPr>
          <a:lstStyle/>
          <a:p>
            <a:pPr algn="l" indent="0" marL="0">
              <a:lnSpc>
                <a:spcPts val="1386"/>
              </a:lnSpc>
              <a:buNone/>
            </a:pPr>
            <a:r>
              <a:rPr lang="en-US" sz="990" dirty="0">
                <a:solidFill>
                  <a:srgbClr val="2A1E16"/>
                </a:solidFill>
                <a:latin typeface="Nunito Sans" pitchFamily="34" charset="0"/>
                <a:ea typeface="Nunito Sans" pitchFamily="34" charset="-122"/>
                <a:cs typeface="Nunito Sans" pitchFamily="34" charset="-120"/>
              </a:rPr>
              <a:t>Mayormente ágil con un marco predictivo de gobierno: un acta, un tablero en Trello y Sprint Reviews.</a:t>
            </a:r>
            <a:endParaRPr lang="en-US" sz="990" dirty="0">
              <a:latin typeface="Nunito Sans" charset="0"/>
              <a:ea typeface="Nunito Sans" charset="0"/>
              <a:cs typeface="Nunito Sans" charset="0"/>
            </a:endParaRPr>
          </a:p>
        </p:txBody>
      </p:sp>
      <p:sp>
        <p:nvSpPr>
          <p:cNvPr id="11" name="Shape 8"/>
          <p:cNvSpPr/>
          <p:nvPr/>
        </p:nvSpPr>
        <p:spPr>
          <a:xfrm>
            <a:off x="6200775" y="4841677"/>
            <a:ext cx="5175250" cy="997148"/>
          </a:xfrm>
          <a:prstGeom prst="roundRect">
            <a:avLst>
              <a:gd name="adj" fmla="val 9871"/>
            </a:avLst>
          </a:prstGeom>
          <a:solidFill>
            <a:srgbClr val="FFFAF2"/>
          </a:solidFill>
          <a:ln w="6350">
            <a:solidFill>
              <a:srgbClr val="E3D6C2"/>
            </a:solidFill>
            <a:prstDash val="solid"/>
          </a:ln>
        </p:spPr>
      </p:sp>
      <p:sp>
        <p:nvSpPr>
          <p:cNvPr id="12" name="Text 9"/>
          <p:cNvSpPr/>
          <p:nvPr/>
        </p:nvSpPr>
        <p:spPr>
          <a:xfrm>
            <a:off x="6455833" y="5045935"/>
            <a:ext cx="4805087" cy="213056"/>
          </a:xfrm>
          <a:prstGeom prst="rect">
            <a:avLst/>
          </a:prstGeom>
          <a:noFill/>
          <a:ln/>
        </p:spPr>
        <p:txBody>
          <a:bodyPr wrap="square" lIns="0" tIns="0" rIns="0" bIns="0" rtlCol="0" anchor="t">
            <a:normAutofit/>
          </a:bodyPr>
          <a:lstStyle/>
          <a:p>
            <a:pPr algn="l" indent="0" marL="0">
              <a:lnSpc>
                <a:spcPts val="1524"/>
              </a:lnSpc>
              <a:buNone/>
            </a:pPr>
            <a:r>
              <a:rPr lang="en-US" sz="1270" b="1" dirty="0">
                <a:solidFill>
                  <a:srgbClr val="2A1E16"/>
                </a:solidFill>
                <a:latin typeface="Nunito Sans" pitchFamily="34" charset="0"/>
                <a:ea typeface="Nunito Sans" pitchFamily="34" charset="-122"/>
                <a:cs typeface="Nunito Sans" pitchFamily="34" charset="-120"/>
              </a:rPr>
              <a:t>MoSCoW y Kanban</a:t>
            </a:r>
            <a:endParaRPr lang="en-US" sz="1270" dirty="0">
              <a:latin typeface="Nunito Sans" charset="0"/>
              <a:ea typeface="Nunito Sans" charset="0"/>
              <a:cs typeface="Nunito Sans" charset="0"/>
            </a:endParaRPr>
          </a:p>
        </p:txBody>
      </p:sp>
      <p:sp>
        <p:nvSpPr>
          <p:cNvPr id="13" name="Text 10"/>
          <p:cNvSpPr/>
          <p:nvPr/>
        </p:nvSpPr>
        <p:spPr>
          <a:xfrm>
            <a:off x="6455833" y="5284391"/>
            <a:ext cx="4805087" cy="375576"/>
          </a:xfrm>
          <a:prstGeom prst="rect">
            <a:avLst/>
          </a:prstGeom>
          <a:noFill/>
          <a:ln/>
        </p:spPr>
        <p:txBody>
          <a:bodyPr wrap="square" lIns="0" tIns="0" rIns="0" bIns="0" rtlCol="0" anchor="t">
            <a:normAutofit/>
          </a:bodyPr>
          <a:lstStyle/>
          <a:p>
            <a:pPr algn="l" indent="0" marL="0">
              <a:lnSpc>
                <a:spcPts val="1386"/>
              </a:lnSpc>
              <a:buNone/>
            </a:pPr>
            <a:r>
              <a:rPr lang="en-US" sz="990" dirty="0">
                <a:solidFill>
                  <a:srgbClr val="2A1E16"/>
                </a:solidFill>
                <a:latin typeface="Nunito Sans" pitchFamily="34" charset="0"/>
                <a:ea typeface="Nunito Sans" pitchFamily="34" charset="-122"/>
                <a:cs typeface="Nunito Sans" pitchFamily="34" charset="-120"/>
              </a:rPr>
              <a:t>Must = 52 % del esfuerzo (tope 60 %). Kanban con WIP 2-2-1; lead time de 3 días, casi todo espera.</a:t>
            </a:r>
            <a:endParaRPr lang="en-US" sz="990" dirty="0">
              <a:latin typeface="Nunito Sans" charset="0"/>
              <a:ea typeface="Nunito Sans" charset="0"/>
              <a:cs typeface="Nunito Sans" charset="0"/>
            </a:endParaRPr>
          </a:p>
        </p:txBody>
      </p:sp>
      <p:sp>
        <p:nvSpPr>
          <p:cNvPr id="14" name="Text 11"/>
          <p:cNvSpPr/>
          <p:nvPr/>
        </p:nvSpPr>
        <p:spPr>
          <a:xfrm>
            <a:off x="812800" y="6238280"/>
            <a:ext cx="33669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A4A"/>
                </a:solidFill>
                <a:latin typeface="Nunito Sans" pitchFamily="34" charset="0"/>
                <a:ea typeface="Nunito Sans" pitchFamily="34" charset="-122"/>
                <a:cs typeface="Nunito Sans" pitchFamily="34" charset="-120"/>
              </a:rPr>
              <a:t>Panadería San Nicolás · Segunda entrega</a:t>
            </a:r>
            <a:endParaRPr lang="en-US" sz="1200" dirty="0">
              <a:latin typeface="Nunito Sans" charset="0"/>
              <a:ea typeface="Nunito Sans" charset="0"/>
              <a:cs typeface="Nunito Sans" charset="0"/>
            </a:endParaRPr>
          </a:p>
        </p:txBody>
      </p:sp>
      <p:sp>
        <p:nvSpPr>
          <p:cNvPr id="15" name="Text 12"/>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A4A"/>
                </a:solidFill>
                <a:latin typeface="Nunito Sans" pitchFamily="34" charset="0"/>
                <a:ea typeface="Nunito Sans" pitchFamily="34" charset="-122"/>
                <a:cs typeface="Nunito Sans" pitchFamily="34" charset="-120"/>
              </a:rPr>
              <a:t>2</a:t>
            </a:r>
            <a:endParaRPr lang="en-US" sz="1200" dirty="0">
              <a:latin typeface="Nunito Sans" charset="0"/>
              <a:ea typeface="Nunito Sans" charset="0"/>
              <a:cs typeface="Nunito Sans"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EFE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E16"/>
                </a:solidFill>
                <a:latin typeface="Domine" pitchFamily="18" charset="0"/>
                <a:ea typeface="Domine" pitchFamily="18" charset="-122"/>
                <a:cs typeface="Domine" pitchFamily="18" charset="-120"/>
              </a:rPr>
              <a:t>CANVAS ampliado de la aplicación</a:t>
            </a:r>
            <a:endParaRPr lang="en-US" sz="3200" dirty="0">
              <a:latin typeface="Domine" charset="0"/>
              <a:ea typeface="Domine" charset="0"/>
              <a:cs typeface="Domine" charset="0"/>
            </a:endParaRPr>
          </a:p>
        </p:txBody>
      </p:sp>
      <p:sp>
        <p:nvSpPr>
          <p:cNvPr id="3" name="Shape 1"/>
          <p:cNvSpPr/>
          <p:nvPr/>
        </p:nvSpPr>
        <p:spPr>
          <a:xfrm>
            <a:off x="815975" y="1389990"/>
            <a:ext cx="2045957" cy="2011958"/>
          </a:xfrm>
          <a:prstGeom prst="roundRect">
            <a:avLst>
              <a:gd name="adj" fmla="val 3630"/>
            </a:avLst>
          </a:prstGeom>
          <a:solidFill>
            <a:srgbClr val="FFFAF2"/>
          </a:solidFill>
          <a:ln w="6350">
            <a:solidFill>
              <a:srgbClr val="E3D6C2"/>
            </a:solidFill>
            <a:prstDash val="solid"/>
          </a:ln>
        </p:spPr>
      </p:sp>
      <p:sp>
        <p:nvSpPr>
          <p:cNvPr id="4" name="Text 2"/>
          <p:cNvSpPr/>
          <p:nvPr/>
        </p:nvSpPr>
        <p:spPr>
          <a:xfrm>
            <a:off x="944033" y="1505347"/>
            <a:ext cx="1843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Nunito Sans" pitchFamily="34" charset="0"/>
                <a:ea typeface="Nunito Sans" pitchFamily="34" charset="-122"/>
                <a:cs typeface="Nunito Sans" pitchFamily="34" charset="-120"/>
              </a:rPr>
              <a:t>Socios clave</a:t>
            </a:r>
            <a:endParaRPr lang="en-US" sz="1200" dirty="0">
              <a:latin typeface="Nunito Sans" charset="0"/>
              <a:ea typeface="Nunito Sans" charset="0"/>
              <a:cs typeface="Nunito Sans" charset="0"/>
            </a:endParaRPr>
          </a:p>
        </p:txBody>
      </p:sp>
      <p:sp>
        <p:nvSpPr>
          <p:cNvPr id="5" name="Text 3"/>
          <p:cNvSpPr/>
          <p:nvPr/>
        </p:nvSpPr>
        <p:spPr>
          <a:xfrm>
            <a:off x="944033" y="1744067"/>
            <a:ext cx="184353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E16"/>
                </a:solidFill>
                <a:latin typeface="Nunito Sans" pitchFamily="34" charset="0"/>
                <a:ea typeface="Nunito Sans" pitchFamily="34" charset="-122"/>
                <a:cs typeface="Nunito Sans" pitchFamily="34" charset="-120"/>
              </a:rPr>
              <a:t>Google, la panadería piloto, la UdeM y Ruta N</a:t>
            </a:r>
            <a:endParaRPr lang="en-US" sz="1200" dirty="0">
              <a:latin typeface="Nunito Sans" charset="0"/>
              <a:ea typeface="Nunito Sans" charset="0"/>
              <a:cs typeface="Nunito Sans" charset="0"/>
            </a:endParaRPr>
          </a:p>
        </p:txBody>
      </p:sp>
      <p:sp>
        <p:nvSpPr>
          <p:cNvPr id="6" name="Shape 4"/>
          <p:cNvSpPr/>
          <p:nvPr/>
        </p:nvSpPr>
        <p:spPr>
          <a:xfrm>
            <a:off x="2944482" y="1389990"/>
            <a:ext cx="2046023" cy="964671"/>
          </a:xfrm>
          <a:prstGeom prst="roundRect">
            <a:avLst>
              <a:gd name="adj" fmla="val 7570"/>
            </a:avLst>
          </a:prstGeom>
          <a:solidFill>
            <a:srgbClr val="FFFAF2"/>
          </a:solidFill>
          <a:ln w="6350">
            <a:solidFill>
              <a:srgbClr val="E3D6C2"/>
            </a:solidFill>
            <a:prstDash val="solid"/>
          </a:ln>
        </p:spPr>
      </p:sp>
      <p:sp>
        <p:nvSpPr>
          <p:cNvPr id="7" name="Text 5"/>
          <p:cNvSpPr/>
          <p:nvPr/>
        </p:nvSpPr>
        <p:spPr>
          <a:xfrm>
            <a:off x="3072540" y="1505347"/>
            <a:ext cx="18436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Nunito Sans" pitchFamily="34" charset="0"/>
                <a:ea typeface="Nunito Sans" pitchFamily="34" charset="-122"/>
                <a:cs typeface="Nunito Sans" pitchFamily="34" charset="-120"/>
              </a:rPr>
              <a:t>Actividades clave</a:t>
            </a:r>
            <a:endParaRPr lang="en-US" sz="1200" dirty="0">
              <a:latin typeface="Nunito Sans" charset="0"/>
              <a:ea typeface="Nunito Sans" charset="0"/>
              <a:cs typeface="Nunito Sans" charset="0"/>
            </a:endParaRPr>
          </a:p>
        </p:txBody>
      </p:sp>
      <p:sp>
        <p:nvSpPr>
          <p:cNvPr id="8" name="Text 6"/>
          <p:cNvSpPr/>
          <p:nvPr/>
        </p:nvSpPr>
        <p:spPr>
          <a:xfrm>
            <a:off x="3072540" y="1744067"/>
            <a:ext cx="184360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E16"/>
                </a:solidFill>
                <a:latin typeface="Nunito Sans" pitchFamily="34" charset="0"/>
                <a:ea typeface="Nunito Sans" pitchFamily="34" charset="-122"/>
                <a:cs typeface="Nunito Sans" pitchFamily="34" charset="-120"/>
              </a:rPr>
              <a:t>Desarrollo, implementación y soporte</a:t>
            </a:r>
            <a:endParaRPr lang="en-US" sz="1200" dirty="0">
              <a:latin typeface="Nunito Sans" charset="0"/>
              <a:ea typeface="Nunito Sans" charset="0"/>
              <a:cs typeface="Nunito Sans" charset="0"/>
            </a:endParaRPr>
          </a:p>
        </p:txBody>
      </p:sp>
      <p:sp>
        <p:nvSpPr>
          <p:cNvPr id="9" name="Shape 7"/>
          <p:cNvSpPr/>
          <p:nvPr/>
        </p:nvSpPr>
        <p:spPr>
          <a:xfrm>
            <a:off x="2944482" y="2437209"/>
            <a:ext cx="2046023" cy="964737"/>
          </a:xfrm>
          <a:prstGeom prst="roundRect">
            <a:avLst>
              <a:gd name="adj" fmla="val 7569"/>
            </a:avLst>
          </a:prstGeom>
          <a:solidFill>
            <a:srgbClr val="FFFAF2"/>
          </a:solidFill>
          <a:ln w="6350">
            <a:solidFill>
              <a:srgbClr val="E3D6C2"/>
            </a:solidFill>
            <a:prstDash val="solid"/>
          </a:ln>
        </p:spPr>
      </p:sp>
      <p:sp>
        <p:nvSpPr>
          <p:cNvPr id="10" name="Text 8"/>
          <p:cNvSpPr/>
          <p:nvPr/>
        </p:nvSpPr>
        <p:spPr>
          <a:xfrm>
            <a:off x="3072540" y="2552568"/>
            <a:ext cx="18436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Nunito Sans" pitchFamily="34" charset="0"/>
                <a:ea typeface="Nunito Sans" pitchFamily="34" charset="-122"/>
                <a:cs typeface="Nunito Sans" pitchFamily="34" charset="-120"/>
              </a:rPr>
              <a:t>Recursos clave</a:t>
            </a:r>
            <a:endParaRPr lang="en-US" sz="1200" dirty="0">
              <a:latin typeface="Nunito Sans" charset="0"/>
              <a:ea typeface="Nunito Sans" charset="0"/>
              <a:cs typeface="Nunito Sans" charset="0"/>
            </a:endParaRPr>
          </a:p>
        </p:txBody>
      </p:sp>
      <p:sp>
        <p:nvSpPr>
          <p:cNvPr id="11" name="Text 9"/>
          <p:cNvSpPr/>
          <p:nvPr/>
        </p:nvSpPr>
        <p:spPr>
          <a:xfrm>
            <a:off x="3072540" y="2791289"/>
            <a:ext cx="184360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E16"/>
                </a:solidFill>
                <a:latin typeface="Nunito Sans" pitchFamily="34" charset="0"/>
                <a:ea typeface="Nunito Sans" pitchFamily="34" charset="-122"/>
                <a:cs typeface="Nunito Sans" pitchFamily="34" charset="-120"/>
              </a:rPr>
              <a:t>Código, plantilla de datos y cuenta de Google</a:t>
            </a:r>
            <a:endParaRPr lang="en-US" sz="1200" dirty="0">
              <a:latin typeface="Nunito Sans" charset="0"/>
              <a:ea typeface="Nunito Sans" charset="0"/>
              <a:cs typeface="Nunito Sans" charset="0"/>
            </a:endParaRPr>
          </a:p>
        </p:txBody>
      </p:sp>
      <p:sp>
        <p:nvSpPr>
          <p:cNvPr id="12" name="Shape 10"/>
          <p:cNvSpPr/>
          <p:nvPr/>
        </p:nvSpPr>
        <p:spPr>
          <a:xfrm>
            <a:off x="5069880" y="1386815"/>
            <a:ext cx="2052307" cy="2018308"/>
          </a:xfrm>
          <a:prstGeom prst="roundRect">
            <a:avLst>
              <a:gd name="adj" fmla="val 3775"/>
            </a:avLst>
          </a:prstGeom>
          <a:solidFill>
            <a:srgbClr val="2A1E16"/>
          </a:solidFill>
          <a:ln/>
        </p:spPr>
      </p:sp>
      <p:sp>
        <p:nvSpPr>
          <p:cNvPr id="13" name="Text 11"/>
          <p:cNvSpPr/>
          <p:nvPr/>
        </p:nvSpPr>
        <p:spPr>
          <a:xfrm>
            <a:off x="5196880" y="1501115"/>
            <a:ext cx="18522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A35C"/>
                </a:solidFill>
                <a:latin typeface="Nunito Sans" pitchFamily="34" charset="0"/>
                <a:ea typeface="Nunito Sans" pitchFamily="34" charset="-122"/>
                <a:cs typeface="Nunito Sans" pitchFamily="34" charset="-120"/>
              </a:rPr>
              <a:t>Propuesta de valor</a:t>
            </a:r>
            <a:endParaRPr lang="en-US" sz="1200" dirty="0">
              <a:latin typeface="Nunito Sans" charset="0"/>
              <a:ea typeface="Nunito Sans" charset="0"/>
              <a:cs typeface="Nunito Sans" charset="0"/>
            </a:endParaRPr>
          </a:p>
        </p:txBody>
      </p:sp>
      <p:sp>
        <p:nvSpPr>
          <p:cNvPr id="14" name="Text 12"/>
          <p:cNvSpPr/>
          <p:nvPr/>
        </p:nvSpPr>
        <p:spPr>
          <a:xfrm>
            <a:off x="5196880" y="1739835"/>
            <a:ext cx="1852256" cy="101593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6EFE3"/>
                </a:solidFill>
                <a:latin typeface="Nunito Sans" pitchFamily="34" charset="0"/>
                <a:ea typeface="Nunito Sans" pitchFamily="34" charset="-122"/>
                <a:cs typeface="Nunito Sans" pitchFamily="34" charset="-120"/>
              </a:rPr>
              <a:t>Tablero de OEE, SLA, % no vendido y productividad, sin licencias. Cada dolor tiene su indicador.</a:t>
            </a:r>
            <a:endParaRPr lang="en-US" sz="1200" dirty="0">
              <a:latin typeface="Nunito Sans" charset="0"/>
              <a:ea typeface="Nunito Sans" charset="0"/>
              <a:cs typeface="Nunito Sans" charset="0"/>
            </a:endParaRPr>
          </a:p>
        </p:txBody>
      </p:sp>
      <p:sp>
        <p:nvSpPr>
          <p:cNvPr id="15" name="Shape 13"/>
          <p:cNvSpPr/>
          <p:nvPr/>
        </p:nvSpPr>
        <p:spPr>
          <a:xfrm>
            <a:off x="7201562" y="1389990"/>
            <a:ext cx="2045957" cy="964671"/>
          </a:xfrm>
          <a:prstGeom prst="roundRect">
            <a:avLst>
              <a:gd name="adj" fmla="val 7570"/>
            </a:avLst>
          </a:prstGeom>
          <a:solidFill>
            <a:srgbClr val="FFFAF2"/>
          </a:solidFill>
          <a:ln w="6350">
            <a:solidFill>
              <a:srgbClr val="E3D6C2"/>
            </a:solidFill>
            <a:prstDash val="solid"/>
          </a:ln>
        </p:spPr>
      </p:sp>
      <p:sp>
        <p:nvSpPr>
          <p:cNvPr id="16" name="Text 14"/>
          <p:cNvSpPr/>
          <p:nvPr/>
        </p:nvSpPr>
        <p:spPr>
          <a:xfrm>
            <a:off x="7329620" y="1505347"/>
            <a:ext cx="1843535" cy="212527"/>
          </a:xfrm>
          <a:prstGeom prst="rect">
            <a:avLst/>
          </a:prstGeom>
          <a:noFill/>
          <a:ln/>
        </p:spPr>
        <p:txBody>
          <a:bodyPr wrap="square" lIns="0" tIns="0" rIns="0" bIns="0" rtlCol="0" anchor="t">
            <a:normAutofit/>
          </a:bodyPr>
          <a:lstStyle/>
          <a:p>
            <a:pPr algn="l" indent="0" marL="0">
              <a:lnSpc>
                <a:spcPts val="1470"/>
              </a:lnSpc>
              <a:buNone/>
            </a:pPr>
            <a:r>
              <a:rPr lang="en-US" sz="1050" b="1" dirty="0">
                <a:solidFill>
                  <a:srgbClr val="B45309"/>
                </a:solidFill>
                <a:latin typeface="Nunito Sans" pitchFamily="34" charset="0"/>
                <a:ea typeface="Nunito Sans" pitchFamily="34" charset="-122"/>
                <a:cs typeface="Nunito Sans" pitchFamily="34" charset="-120"/>
              </a:rPr>
              <a:t>Relación</a:t>
            </a:r>
            <a:endParaRPr lang="en-US" sz="1050" dirty="0">
              <a:latin typeface="Nunito Sans" charset="0"/>
              <a:ea typeface="Nunito Sans" charset="0"/>
              <a:cs typeface="Nunito Sans" charset="0"/>
            </a:endParaRPr>
          </a:p>
        </p:txBody>
      </p:sp>
      <p:sp>
        <p:nvSpPr>
          <p:cNvPr id="17" name="Text 15"/>
          <p:cNvSpPr/>
          <p:nvPr/>
        </p:nvSpPr>
        <p:spPr>
          <a:xfrm>
            <a:off x="7329620" y="1717873"/>
            <a:ext cx="1843535" cy="546828"/>
          </a:xfrm>
          <a:prstGeom prst="rect">
            <a:avLst/>
          </a:prstGeom>
          <a:noFill/>
          <a:ln/>
        </p:spPr>
        <p:txBody>
          <a:bodyPr wrap="square" lIns="0" tIns="0" rIns="0" bIns="0" rtlCol="0" anchor="t">
            <a:normAutofit/>
          </a:bodyPr>
          <a:lstStyle/>
          <a:p>
            <a:pPr algn="l" indent="0" marL="0">
              <a:lnSpc>
                <a:spcPts val="1545"/>
              </a:lnSpc>
              <a:buNone/>
            </a:pPr>
            <a:r>
              <a:rPr lang="en-US" sz="1189" dirty="0">
                <a:solidFill>
                  <a:srgbClr val="2A1E16"/>
                </a:solidFill>
                <a:latin typeface="Nunito Sans" pitchFamily="34" charset="0"/>
                <a:ea typeface="Nunito Sans" pitchFamily="34" charset="-122"/>
                <a:cs typeface="Nunito Sans" pitchFamily="34" charset="-120"/>
              </a:rPr>
              <a:t>Capacitación y acompañamiento al dueño</a:t>
            </a:r>
            <a:endParaRPr lang="en-US" sz="1189" dirty="0">
              <a:latin typeface="Nunito Sans" charset="0"/>
              <a:ea typeface="Nunito Sans" charset="0"/>
              <a:cs typeface="Nunito Sans" charset="0"/>
            </a:endParaRPr>
          </a:p>
        </p:txBody>
      </p:sp>
      <p:sp>
        <p:nvSpPr>
          <p:cNvPr id="18" name="Shape 16"/>
          <p:cNvSpPr/>
          <p:nvPr/>
        </p:nvSpPr>
        <p:spPr>
          <a:xfrm>
            <a:off x="7201562" y="2437209"/>
            <a:ext cx="2045957" cy="964737"/>
          </a:xfrm>
          <a:prstGeom prst="roundRect">
            <a:avLst>
              <a:gd name="adj" fmla="val 7569"/>
            </a:avLst>
          </a:prstGeom>
          <a:solidFill>
            <a:srgbClr val="FFFAF2"/>
          </a:solidFill>
          <a:ln w="6350">
            <a:solidFill>
              <a:srgbClr val="E3D6C2"/>
            </a:solidFill>
            <a:prstDash val="solid"/>
          </a:ln>
        </p:spPr>
      </p:sp>
      <p:sp>
        <p:nvSpPr>
          <p:cNvPr id="19" name="Text 17"/>
          <p:cNvSpPr/>
          <p:nvPr/>
        </p:nvSpPr>
        <p:spPr>
          <a:xfrm>
            <a:off x="7329620" y="2552568"/>
            <a:ext cx="1843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Nunito Sans" pitchFamily="34" charset="0"/>
                <a:ea typeface="Nunito Sans" pitchFamily="34" charset="-122"/>
                <a:cs typeface="Nunito Sans" pitchFamily="34" charset="-120"/>
              </a:rPr>
              <a:t>Canales</a:t>
            </a:r>
            <a:endParaRPr lang="en-US" sz="1200" dirty="0">
              <a:latin typeface="Nunito Sans" charset="0"/>
              <a:ea typeface="Nunito Sans" charset="0"/>
              <a:cs typeface="Nunito Sans" charset="0"/>
            </a:endParaRPr>
          </a:p>
        </p:txBody>
      </p:sp>
      <p:sp>
        <p:nvSpPr>
          <p:cNvPr id="20" name="Text 18"/>
          <p:cNvSpPr/>
          <p:nvPr/>
        </p:nvSpPr>
        <p:spPr>
          <a:xfrm>
            <a:off x="7329620" y="2791289"/>
            <a:ext cx="184353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E16"/>
                </a:solidFill>
                <a:latin typeface="Nunito Sans" pitchFamily="34" charset="0"/>
                <a:ea typeface="Nunito Sans" pitchFamily="34" charset="-122"/>
                <a:cs typeface="Nunito Sans" pitchFamily="34" charset="-120"/>
              </a:rPr>
              <a:t>App web con un enlace; visitas y gremio panadero</a:t>
            </a:r>
            <a:endParaRPr lang="en-US" sz="1200" dirty="0">
              <a:latin typeface="Nunito Sans" charset="0"/>
              <a:ea typeface="Nunito Sans" charset="0"/>
              <a:cs typeface="Nunito Sans" charset="0"/>
            </a:endParaRPr>
          </a:p>
        </p:txBody>
      </p:sp>
      <p:sp>
        <p:nvSpPr>
          <p:cNvPr id="21" name="Shape 19"/>
          <p:cNvSpPr/>
          <p:nvPr/>
        </p:nvSpPr>
        <p:spPr>
          <a:xfrm>
            <a:off x="9330068" y="1389990"/>
            <a:ext cx="2045957" cy="2011958"/>
          </a:xfrm>
          <a:prstGeom prst="roundRect">
            <a:avLst>
              <a:gd name="adj" fmla="val 3630"/>
            </a:avLst>
          </a:prstGeom>
          <a:solidFill>
            <a:srgbClr val="FFFAF2"/>
          </a:solidFill>
          <a:ln w="6350">
            <a:solidFill>
              <a:srgbClr val="E3D6C2"/>
            </a:solidFill>
            <a:prstDash val="solid"/>
          </a:ln>
        </p:spPr>
      </p:sp>
      <p:sp>
        <p:nvSpPr>
          <p:cNvPr id="22" name="Text 20"/>
          <p:cNvSpPr/>
          <p:nvPr/>
        </p:nvSpPr>
        <p:spPr>
          <a:xfrm>
            <a:off x="9458127" y="1505347"/>
            <a:ext cx="184353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Nunito Sans" pitchFamily="34" charset="0"/>
                <a:ea typeface="Nunito Sans" pitchFamily="34" charset="-122"/>
                <a:cs typeface="Nunito Sans" pitchFamily="34" charset="-120"/>
              </a:rPr>
              <a:t>Segmentos</a:t>
            </a:r>
            <a:endParaRPr lang="en-US" sz="1200" dirty="0">
              <a:latin typeface="Nunito Sans" charset="0"/>
              <a:ea typeface="Nunito Sans" charset="0"/>
              <a:cs typeface="Nunito Sans" charset="0"/>
            </a:endParaRPr>
          </a:p>
        </p:txBody>
      </p:sp>
      <p:sp>
        <p:nvSpPr>
          <p:cNvPr id="23" name="Text 21"/>
          <p:cNvSpPr/>
          <p:nvPr/>
        </p:nvSpPr>
        <p:spPr>
          <a:xfrm>
            <a:off x="9458127" y="1744067"/>
            <a:ext cx="1843535" cy="6197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E16"/>
                </a:solidFill>
                <a:latin typeface="Nunito Sans" pitchFamily="34" charset="0"/>
                <a:ea typeface="Nunito Sans" pitchFamily="34" charset="-122"/>
                <a:cs typeface="Nunito Sans" pitchFamily="34" charset="-120"/>
              </a:rPr>
              <a:t>San Nicolás; luego ≈ 17.000 panaderías de punto caliente</a:t>
            </a:r>
            <a:endParaRPr lang="en-US" sz="1200" dirty="0">
              <a:latin typeface="Nunito Sans" charset="0"/>
              <a:ea typeface="Nunito Sans" charset="0"/>
              <a:cs typeface="Nunito Sans" charset="0"/>
            </a:endParaRPr>
          </a:p>
        </p:txBody>
      </p:sp>
      <p:sp>
        <p:nvSpPr>
          <p:cNvPr id="24" name="Shape 22"/>
          <p:cNvSpPr/>
          <p:nvPr/>
        </p:nvSpPr>
        <p:spPr>
          <a:xfrm>
            <a:off x="815975" y="3535297"/>
            <a:ext cx="5238750" cy="667544"/>
          </a:xfrm>
          <a:prstGeom prst="roundRect">
            <a:avLst>
              <a:gd name="adj" fmla="val 10939"/>
            </a:avLst>
          </a:prstGeom>
          <a:solidFill>
            <a:srgbClr val="FFFAF2"/>
          </a:solidFill>
          <a:ln w="6350">
            <a:solidFill>
              <a:srgbClr val="E3D6C2"/>
            </a:solidFill>
            <a:prstDash val="solid"/>
          </a:ln>
        </p:spPr>
      </p:sp>
      <p:sp>
        <p:nvSpPr>
          <p:cNvPr id="25" name="Text 23"/>
          <p:cNvSpPr/>
          <p:nvPr/>
        </p:nvSpPr>
        <p:spPr>
          <a:xfrm>
            <a:off x="944033" y="3650655"/>
            <a:ext cx="51321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Nunito Sans" pitchFamily="34" charset="0"/>
                <a:ea typeface="Nunito Sans" pitchFamily="34" charset="-122"/>
                <a:cs typeface="Nunito Sans" pitchFamily="34" charset="-120"/>
              </a:rPr>
              <a:t>Costos</a:t>
            </a:r>
            <a:endParaRPr lang="en-US" sz="1200" dirty="0">
              <a:latin typeface="Nunito Sans" charset="0"/>
              <a:ea typeface="Nunito Sans" charset="0"/>
              <a:cs typeface="Nunito Sans" charset="0"/>
            </a:endParaRPr>
          </a:p>
        </p:txBody>
      </p:sp>
      <p:sp>
        <p:nvSpPr>
          <p:cNvPr id="26" name="Text 24"/>
          <p:cNvSpPr/>
          <p:nvPr/>
        </p:nvSpPr>
        <p:spPr>
          <a:xfrm>
            <a:off x="944033" y="3889375"/>
            <a:ext cx="5132112"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E16"/>
                </a:solidFill>
                <a:latin typeface="Nunito Sans" pitchFamily="34" charset="0"/>
                <a:ea typeface="Nunito Sans" pitchFamily="34" charset="-122"/>
                <a:cs typeface="Nunito Sans" pitchFamily="34" charset="-120"/>
              </a:rPr>
              <a:t>$4,8 M en horas del equipo y ≈ $40.000/mes de mantenimiento</a:t>
            </a:r>
            <a:endParaRPr lang="en-US" sz="1200" dirty="0">
              <a:latin typeface="Nunito Sans" charset="0"/>
              <a:ea typeface="Nunito Sans" charset="0"/>
              <a:cs typeface="Nunito Sans" charset="0"/>
            </a:endParaRPr>
          </a:p>
        </p:txBody>
      </p:sp>
      <p:sp>
        <p:nvSpPr>
          <p:cNvPr id="27" name="Shape 25"/>
          <p:cNvSpPr/>
          <p:nvPr/>
        </p:nvSpPr>
        <p:spPr>
          <a:xfrm>
            <a:off x="6137275" y="3535297"/>
            <a:ext cx="5238750" cy="667544"/>
          </a:xfrm>
          <a:prstGeom prst="roundRect">
            <a:avLst>
              <a:gd name="adj" fmla="val 10939"/>
            </a:avLst>
          </a:prstGeom>
          <a:solidFill>
            <a:srgbClr val="FFFAF2"/>
          </a:solidFill>
          <a:ln w="6350">
            <a:solidFill>
              <a:srgbClr val="E3D6C2"/>
            </a:solidFill>
            <a:prstDash val="solid"/>
          </a:ln>
        </p:spPr>
      </p:sp>
      <p:sp>
        <p:nvSpPr>
          <p:cNvPr id="28" name="Text 26"/>
          <p:cNvSpPr/>
          <p:nvPr/>
        </p:nvSpPr>
        <p:spPr>
          <a:xfrm>
            <a:off x="6265333" y="3650655"/>
            <a:ext cx="51321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Nunito Sans" pitchFamily="34" charset="0"/>
                <a:ea typeface="Nunito Sans" pitchFamily="34" charset="-122"/>
                <a:cs typeface="Nunito Sans" pitchFamily="34" charset="-120"/>
              </a:rPr>
              <a:t>Ingresos</a:t>
            </a:r>
            <a:endParaRPr lang="en-US" sz="1200" dirty="0">
              <a:latin typeface="Nunito Sans" charset="0"/>
              <a:ea typeface="Nunito Sans" charset="0"/>
              <a:cs typeface="Nunito Sans" charset="0"/>
            </a:endParaRPr>
          </a:p>
        </p:txBody>
      </p:sp>
      <p:sp>
        <p:nvSpPr>
          <p:cNvPr id="29" name="Text 27"/>
          <p:cNvSpPr/>
          <p:nvPr/>
        </p:nvSpPr>
        <p:spPr>
          <a:xfrm>
            <a:off x="6265333" y="3889375"/>
            <a:ext cx="5132112"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1E16"/>
                </a:solidFill>
                <a:latin typeface="Nunito Sans" pitchFamily="34" charset="0"/>
                <a:ea typeface="Nunito Sans" pitchFamily="34" charset="-122"/>
                <a:cs typeface="Nunito Sans" pitchFamily="34" charset="-120"/>
              </a:rPr>
              <a:t>Ahorro de ≈ $432.000/mes; para escalar, suscripción (hipótesis)</a:t>
            </a:r>
            <a:endParaRPr lang="en-US" sz="1200" dirty="0">
              <a:latin typeface="Nunito Sans" charset="0"/>
              <a:ea typeface="Nunito Sans" charset="0"/>
              <a:cs typeface="Nunito Sans" charset="0"/>
            </a:endParaRPr>
          </a:p>
        </p:txBody>
      </p:sp>
      <p:sp>
        <p:nvSpPr>
          <p:cNvPr id="30" name="Shape 28"/>
          <p:cNvSpPr/>
          <p:nvPr/>
        </p:nvSpPr>
        <p:spPr>
          <a:xfrm>
            <a:off x="812800" y="4333016"/>
            <a:ext cx="3471333" cy="863534"/>
          </a:xfrm>
          <a:prstGeom prst="roundRect">
            <a:avLst>
              <a:gd name="adj" fmla="val 8824"/>
            </a:avLst>
          </a:prstGeom>
          <a:solidFill>
            <a:srgbClr val="2F5D8A"/>
          </a:solidFill>
          <a:ln/>
        </p:spPr>
      </p:sp>
      <p:sp>
        <p:nvSpPr>
          <p:cNvPr id="31" name="Text 29"/>
          <p:cNvSpPr/>
          <p:nvPr/>
        </p:nvSpPr>
        <p:spPr>
          <a:xfrm>
            <a:off x="939800" y="4447316"/>
            <a:ext cx="331385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E0F0"/>
                </a:solidFill>
                <a:latin typeface="Nunito Sans" pitchFamily="34" charset="0"/>
                <a:ea typeface="Nunito Sans" pitchFamily="34" charset="-122"/>
                <a:cs typeface="Nunito Sans" pitchFamily="34" charset="-120"/>
              </a:rPr>
              <a:t>Capa ambiental</a:t>
            </a:r>
            <a:endParaRPr lang="en-US" sz="1200" dirty="0">
              <a:latin typeface="Nunito Sans" charset="0"/>
              <a:ea typeface="Nunito Sans" charset="0"/>
              <a:cs typeface="Nunito Sans" charset="0"/>
            </a:endParaRPr>
          </a:p>
        </p:txBody>
      </p:sp>
      <p:sp>
        <p:nvSpPr>
          <p:cNvPr id="32" name="Text 30"/>
          <p:cNvSpPr/>
          <p:nvPr/>
        </p:nvSpPr>
        <p:spPr>
          <a:xfrm>
            <a:off x="939800" y="4686036"/>
            <a:ext cx="331385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6EFE3"/>
                </a:solidFill>
                <a:latin typeface="Nunito Sans" pitchFamily="34" charset="0"/>
                <a:ea typeface="Nunito Sans" pitchFamily="34" charset="-122"/>
                <a:cs typeface="Nunito Sans" pitchFamily="34" charset="-120"/>
              </a:rPr>
              <a:t>Menos pan desperdiciado y menos gas (ODS 12.3)</a:t>
            </a:r>
            <a:endParaRPr lang="en-US" sz="1200" dirty="0">
              <a:latin typeface="Nunito Sans" charset="0"/>
              <a:ea typeface="Nunito Sans" charset="0"/>
              <a:cs typeface="Nunito Sans" charset="0"/>
            </a:endParaRPr>
          </a:p>
        </p:txBody>
      </p:sp>
      <p:sp>
        <p:nvSpPr>
          <p:cNvPr id="33" name="Shape 31"/>
          <p:cNvSpPr/>
          <p:nvPr/>
        </p:nvSpPr>
        <p:spPr>
          <a:xfrm>
            <a:off x="4360333" y="4333016"/>
            <a:ext cx="3471333" cy="863534"/>
          </a:xfrm>
          <a:prstGeom prst="roundRect">
            <a:avLst>
              <a:gd name="adj" fmla="val 8824"/>
            </a:avLst>
          </a:prstGeom>
          <a:solidFill>
            <a:srgbClr val="2F5D8A"/>
          </a:solidFill>
          <a:ln/>
        </p:spPr>
      </p:sp>
      <p:sp>
        <p:nvSpPr>
          <p:cNvPr id="34" name="Text 32"/>
          <p:cNvSpPr/>
          <p:nvPr/>
        </p:nvSpPr>
        <p:spPr>
          <a:xfrm>
            <a:off x="4487333" y="4447316"/>
            <a:ext cx="331385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E0F0"/>
                </a:solidFill>
                <a:latin typeface="Nunito Sans" pitchFamily="34" charset="0"/>
                <a:ea typeface="Nunito Sans" pitchFamily="34" charset="-122"/>
                <a:cs typeface="Nunito Sans" pitchFamily="34" charset="-120"/>
              </a:rPr>
              <a:t>Capa social</a:t>
            </a:r>
            <a:endParaRPr lang="en-US" sz="1200" dirty="0">
              <a:latin typeface="Nunito Sans" charset="0"/>
              <a:ea typeface="Nunito Sans" charset="0"/>
              <a:cs typeface="Nunito Sans" charset="0"/>
            </a:endParaRPr>
          </a:p>
        </p:txBody>
      </p:sp>
      <p:sp>
        <p:nvSpPr>
          <p:cNvPr id="35" name="Text 33"/>
          <p:cNvSpPr/>
          <p:nvPr/>
        </p:nvSpPr>
        <p:spPr>
          <a:xfrm>
            <a:off x="4487333" y="4686036"/>
            <a:ext cx="331385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6EFE3"/>
                </a:solidFill>
                <a:latin typeface="Nunito Sans" pitchFamily="34" charset="0"/>
                <a:ea typeface="Nunito Sans" pitchFamily="34" charset="-122"/>
                <a:cs typeface="Nunito Sans" pitchFamily="34" charset="-120"/>
              </a:rPr>
              <a:t>Decisiones con datos; donación del pan no vendido</a:t>
            </a:r>
            <a:endParaRPr lang="en-US" sz="1200" dirty="0">
              <a:latin typeface="Nunito Sans" charset="0"/>
              <a:ea typeface="Nunito Sans" charset="0"/>
              <a:cs typeface="Nunito Sans" charset="0"/>
            </a:endParaRPr>
          </a:p>
        </p:txBody>
      </p:sp>
      <p:sp>
        <p:nvSpPr>
          <p:cNvPr id="36" name="Shape 34"/>
          <p:cNvSpPr/>
          <p:nvPr/>
        </p:nvSpPr>
        <p:spPr>
          <a:xfrm>
            <a:off x="7907867" y="4333016"/>
            <a:ext cx="3471333" cy="863534"/>
          </a:xfrm>
          <a:prstGeom prst="roundRect">
            <a:avLst>
              <a:gd name="adj" fmla="val 8824"/>
            </a:avLst>
          </a:prstGeom>
          <a:solidFill>
            <a:srgbClr val="2F5D8A"/>
          </a:solidFill>
          <a:ln/>
        </p:spPr>
      </p:sp>
      <p:sp>
        <p:nvSpPr>
          <p:cNvPr id="37" name="Text 35"/>
          <p:cNvSpPr/>
          <p:nvPr/>
        </p:nvSpPr>
        <p:spPr>
          <a:xfrm>
            <a:off x="8034867" y="4447316"/>
            <a:ext cx="331385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E0F0"/>
                </a:solidFill>
                <a:latin typeface="Nunito Sans" pitchFamily="34" charset="0"/>
                <a:ea typeface="Nunito Sans" pitchFamily="34" charset="-122"/>
                <a:cs typeface="Nunito Sans" pitchFamily="34" charset="-120"/>
              </a:rPr>
              <a:t>Vía de escalamiento</a:t>
            </a:r>
            <a:endParaRPr lang="en-US" sz="1200" dirty="0">
              <a:latin typeface="Nunito Sans" charset="0"/>
              <a:ea typeface="Nunito Sans" charset="0"/>
              <a:cs typeface="Nunito Sans" charset="0"/>
            </a:endParaRPr>
          </a:p>
        </p:txBody>
      </p:sp>
      <p:sp>
        <p:nvSpPr>
          <p:cNvPr id="38" name="Text 36"/>
          <p:cNvSpPr/>
          <p:nvPr/>
        </p:nvSpPr>
        <p:spPr>
          <a:xfrm>
            <a:off x="8034867" y="4686036"/>
            <a:ext cx="3313853"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6EFE3"/>
                </a:solidFill>
                <a:latin typeface="Nunito Sans" pitchFamily="34" charset="0"/>
                <a:ea typeface="Nunito Sans" pitchFamily="34" charset="-122"/>
                <a:cs typeface="Nunito Sans" pitchFamily="34" charset="-120"/>
              </a:rPr>
              <a:t>San Nicolás → toda la línea → 3 a 5 panaderías → el país</a:t>
            </a:r>
            <a:endParaRPr lang="en-US" sz="1200" dirty="0">
              <a:latin typeface="Nunito Sans" charset="0"/>
              <a:ea typeface="Nunito Sans" charset="0"/>
              <a:cs typeface="Nunito Sans" charset="0"/>
            </a:endParaRPr>
          </a:p>
        </p:txBody>
      </p:sp>
      <p:sp>
        <p:nvSpPr>
          <p:cNvPr id="39" name="Text 37"/>
          <p:cNvSpPr/>
          <p:nvPr/>
        </p:nvSpPr>
        <p:spPr>
          <a:xfrm>
            <a:off x="812800" y="6238280"/>
            <a:ext cx="77224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A4A"/>
                </a:solidFill>
                <a:latin typeface="Nunito Sans" pitchFamily="34" charset="0"/>
                <a:ea typeface="Nunito Sans" pitchFamily="34" charset="-122"/>
                <a:cs typeface="Nunito Sans" pitchFamily="34" charset="-120"/>
              </a:rPr>
              <a:t>Panadería San Nicolás · Segunda entrega · Triple capa (Joyce y Paquin) + Project Model Canvas</a:t>
            </a:r>
            <a:endParaRPr lang="en-US" sz="1200" dirty="0">
              <a:latin typeface="Nunito Sans" charset="0"/>
              <a:ea typeface="Nunito Sans" charset="0"/>
              <a:cs typeface="Nunito Sans" charset="0"/>
            </a:endParaRPr>
          </a:p>
        </p:txBody>
      </p:sp>
      <p:sp>
        <p:nvSpPr>
          <p:cNvPr id="40" name="Text 38"/>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A4A"/>
                </a:solidFill>
                <a:latin typeface="Nunito Sans" pitchFamily="34" charset="0"/>
                <a:ea typeface="Nunito Sans" pitchFamily="34" charset="-122"/>
                <a:cs typeface="Nunito Sans" pitchFamily="34" charset="-120"/>
              </a:rPr>
              <a:t>3</a:t>
            </a:r>
            <a:endParaRPr lang="en-US" sz="1200" dirty="0">
              <a:latin typeface="Nunito Sans" charset="0"/>
              <a:ea typeface="Nunito Sans" charset="0"/>
              <a:cs typeface="Nunito Sans"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EFE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373261"/>
          </a:xfrm>
          <a:prstGeom prst="rect">
            <a:avLst/>
          </a:prstGeom>
          <a:noFill/>
          <a:ln/>
        </p:spPr>
        <p:txBody>
          <a:bodyPr wrap="square" lIns="0" tIns="0" rIns="0" bIns="0" rtlCol="0" anchor="t">
            <a:normAutofit/>
          </a:bodyPr>
          <a:lstStyle/>
          <a:p>
            <a:pPr algn="l" indent="0" marL="0">
              <a:lnSpc>
                <a:spcPts val="2772"/>
              </a:lnSpc>
              <a:buNone/>
            </a:pPr>
            <a:r>
              <a:rPr lang="en-US" sz="2520" b="1" i="0" dirty="0">
                <a:solidFill>
                  <a:srgbClr val="2A1E16"/>
                </a:solidFill>
                <a:latin typeface="Domine" pitchFamily="18" charset="0"/>
                <a:ea typeface="Domine" pitchFamily="18" charset="-122"/>
                <a:cs typeface="Domine" pitchFamily="18" charset="-120"/>
              </a:rPr>
              <a:t>PESTEL: el entorno presiona los costos</a:t>
            </a:r>
            <a:endParaRPr lang="en-US" sz="2520" dirty="0">
              <a:latin typeface="Domine" charset="0"/>
              <a:ea typeface="Domine" charset="0"/>
              <a:cs typeface="Domine" charset="0"/>
            </a:endParaRPr>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376561"/>
          <a:ext cx="10553700" cy="4465439"/>
        </p:xfrm>
        <a:graphic>
          <a:graphicData uri="http://schemas.openxmlformats.org/drawingml/2006/table">
            <a:tbl>
              <a:tblPr/>
              <a:tblGrid>
                <a:gridCol w="2638425"/>
                <a:gridCol w="2638425"/>
                <a:gridCol w="2638425"/>
                <a:gridCol w="2638425"/>
              </a:tblGrid>
              <a:tr h="283236">
                <a:tc>
                  <a:txBody>
                    <a:bodyPr/>
                    <a:lstStyle/>
                    <a:p>
                      <a:pPr indent="0" marL="0">
                        <a:lnSpc>
                          <a:spcPts val="1328"/>
                        </a:lnSpc>
                        <a:buNone/>
                      </a:pPr>
                      <a:r>
                        <a:rPr lang="en-US" sz="949" b="1" dirty="0">
                          <a:solidFill>
                            <a:srgbClr val="2A1E16"/>
                          </a:solidFill>
                          <a:latin typeface="Nunito Sans" pitchFamily="34" charset="0"/>
                          <a:ea typeface="Nunito Sans" pitchFamily="34" charset="-122"/>
                          <a:cs typeface="Nunito Sans" pitchFamily="34" charset="-120"/>
                        </a:rPr>
                        <a:t>Categoría</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B6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6B1A8"/>
                      </a:solidFill>
                      <a:prstDash val="solid"/>
                      <a:round/>
                      <a:headEnd type="none" w="med" len="med"/>
                      <a:tailEnd type="none" w="med" len="med"/>
                    </a:lnB>
                    <a:solidFill>
                      <a:srgbClr val="E4DDD2"/>
                    </a:solidFill>
                  </a:tcPr>
                </a:tc>
                <a:tc>
                  <a:txBody>
                    <a:bodyPr/>
                    <a:lstStyle/>
                    <a:p>
                      <a:pPr indent="0" marL="0">
                        <a:lnSpc>
                          <a:spcPts val="1328"/>
                        </a:lnSpc>
                        <a:buNone/>
                      </a:pPr>
                      <a:r>
                        <a:rPr lang="en-US" sz="949" b="1" dirty="0">
                          <a:solidFill>
                            <a:srgbClr val="2A1E16"/>
                          </a:solidFill>
                          <a:latin typeface="Nunito Sans" pitchFamily="34" charset="0"/>
                          <a:ea typeface="Nunito Sans" pitchFamily="34" charset="-122"/>
                          <a:cs typeface="Nunito Sans" pitchFamily="34" charset="-120"/>
                        </a:rPr>
                        <a:t>Factor y efecto (corte oct. 2026)</a:t>
                      </a:r>
                      <a:endParaRPr lang="en-US" sz="949" dirty="0">
                        <a:latin typeface="Nunito Sans" charset="0"/>
                        <a:ea typeface="Nunito Sans" charset="0"/>
                        <a:cs typeface="Nunito Sans" charset="0"/>
                      </a:endParaRPr>
                    </a:p>
                  </a:txBody>
                  <a:tcPr marL="88900" marR="88900" marT="50800" marB="50800" anchor="t">
                    <a:lnL w="12700" cap="flat" cmpd="sng" algn="ctr">
                      <a:solidFill>
                        <a:srgbClr val="B6B1A8"/>
                      </a:solidFill>
                      <a:prstDash val="solid"/>
                      <a:round/>
                      <a:headEnd type="none" w="med" len="med"/>
                      <a:tailEnd type="none" w="med" len="med"/>
                    </a:lnL>
                    <a:lnR w="12700" cap="flat" cmpd="sng" algn="ctr">
                      <a:solidFill>
                        <a:srgbClr val="B6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6B1A8"/>
                      </a:solidFill>
                      <a:prstDash val="solid"/>
                      <a:round/>
                      <a:headEnd type="none" w="med" len="med"/>
                      <a:tailEnd type="none" w="med" len="med"/>
                    </a:lnB>
                    <a:solidFill>
                      <a:srgbClr val="E4DDD2"/>
                    </a:solidFill>
                  </a:tcPr>
                </a:tc>
                <a:tc>
                  <a:txBody>
                    <a:bodyPr/>
                    <a:lstStyle/>
                    <a:p>
                      <a:pPr indent="0" marL="0">
                        <a:lnSpc>
                          <a:spcPts val="1328"/>
                        </a:lnSpc>
                        <a:buNone/>
                      </a:pPr>
                      <a:r>
                        <a:rPr lang="en-US" sz="949" b="1" dirty="0">
                          <a:solidFill>
                            <a:srgbClr val="2A1E16"/>
                          </a:solidFill>
                          <a:latin typeface="Nunito Sans" pitchFamily="34" charset="0"/>
                          <a:ea typeface="Nunito Sans" pitchFamily="34" charset="-122"/>
                          <a:cs typeface="Nunito Sans" pitchFamily="34" charset="-120"/>
                        </a:rPr>
                        <a:t>Tipo</a:t>
                      </a:r>
                      <a:endParaRPr lang="en-US" sz="949" dirty="0">
                        <a:latin typeface="Nunito Sans" charset="0"/>
                        <a:ea typeface="Nunito Sans" charset="0"/>
                        <a:cs typeface="Nunito Sans" charset="0"/>
                      </a:endParaRPr>
                    </a:p>
                  </a:txBody>
                  <a:tcPr marL="88900" marR="88900" marT="50800" marB="50800" anchor="t">
                    <a:lnL w="12700" cap="flat" cmpd="sng" algn="ctr">
                      <a:solidFill>
                        <a:srgbClr val="B6B1A8"/>
                      </a:solidFill>
                      <a:prstDash val="solid"/>
                      <a:round/>
                      <a:headEnd type="none" w="med" len="med"/>
                      <a:tailEnd type="none" w="med" len="med"/>
                    </a:lnL>
                    <a:lnR w="12700" cap="flat" cmpd="sng" algn="ctr">
                      <a:solidFill>
                        <a:srgbClr val="B6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6B1A8"/>
                      </a:solidFill>
                      <a:prstDash val="solid"/>
                      <a:round/>
                      <a:headEnd type="none" w="med" len="med"/>
                      <a:tailEnd type="none" w="med" len="med"/>
                    </a:lnB>
                    <a:solidFill>
                      <a:srgbClr val="E4DDD2"/>
                    </a:solidFill>
                  </a:tcPr>
                </a:tc>
                <a:tc>
                  <a:txBody>
                    <a:bodyPr/>
                    <a:lstStyle/>
                    <a:p>
                      <a:pPr indent="0" marL="0">
                        <a:lnSpc>
                          <a:spcPts val="1328"/>
                        </a:lnSpc>
                        <a:buNone/>
                      </a:pPr>
                      <a:r>
                        <a:rPr lang="en-US" sz="949" b="1" dirty="0">
                          <a:solidFill>
                            <a:srgbClr val="2A1E16"/>
                          </a:solidFill>
                          <a:latin typeface="Nunito Sans" pitchFamily="34" charset="0"/>
                          <a:ea typeface="Nunito Sans" pitchFamily="34" charset="-122"/>
                          <a:cs typeface="Nunito Sans" pitchFamily="34" charset="-120"/>
                        </a:rPr>
                        <a:t>Prioridad</a:t>
                      </a:r>
                      <a:endParaRPr lang="en-US" sz="949" dirty="0">
                        <a:latin typeface="Nunito Sans" charset="0"/>
                        <a:ea typeface="Nunito Sans" charset="0"/>
                        <a:cs typeface="Nunito Sans" charset="0"/>
                      </a:endParaRPr>
                    </a:p>
                  </a:txBody>
                  <a:tcPr marL="88900" marR="88900" marT="50800" marB="50800" anchor="t">
                    <a:lnL w="12700" cap="flat" cmpd="sng" algn="ctr">
                      <a:solidFill>
                        <a:srgbClr val="B6B1A8"/>
                      </a:solidFill>
                      <a:prstDash val="solid"/>
                      <a:round/>
                      <a:headEnd type="none" w="med" len="med"/>
                      <a:tailEnd type="none" w="med" len="med"/>
                    </a:lnL>
                    <a:lnR w="12700" cap="flat" cmpd="sng" algn="ctr">
                      <a:solidFill>
                        <a:srgbClr val="B6B1A8"/>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B6B1A8"/>
                      </a:solidFill>
                      <a:prstDash val="solid"/>
                      <a:round/>
                      <a:headEnd type="none" w="med" len="med"/>
                      <a:tailEnd type="none" w="med" len="med"/>
                    </a:lnB>
                    <a:solidFill>
                      <a:srgbClr val="E4DDD2"/>
                    </a:solidFill>
                  </a:tcPr>
                </a:tc>
              </a:tr>
              <a:tr h="451908">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Económico</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2B09A"/>
                      </a:solidFill>
                      <a:prstDash val="solid"/>
                      <a:round/>
                      <a:headEnd type="none" w="med" len="med"/>
                      <a:tailEnd type="none" w="med" len="med"/>
                    </a:lnR>
                    <a:lnT w="12700" cap="flat" cmpd="sng" algn="ctr">
                      <a:solidFill>
                        <a:srgbClr val="B6B1A8"/>
                      </a:solidFill>
                      <a:prstDash val="solid"/>
                      <a:round/>
                      <a:headEnd type="none" w="med" len="med"/>
                      <a:tailEnd type="none" w="med" len="med"/>
                    </a:lnT>
                    <a:lnB w="12700" cap="flat" cmpd="sng" algn="ctr">
                      <a:solidFill>
                        <a:srgbClr val="C2B09A"/>
                      </a:solidFill>
                      <a:prstDash val="solid"/>
                      <a:round/>
                      <a:headEnd type="none" w="med" len="med"/>
                      <a:tailEnd type="none" w="med" len="med"/>
                    </a:lnB>
                    <a:solidFill>
                      <a:srgbClr val="F3DCC0"/>
                    </a:solidFill>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Inflación de 6,29 %: suben harina, huevo y mantequilla</a:t>
                      </a:r>
                      <a:endParaRPr lang="en-US" sz="949" dirty="0">
                        <a:latin typeface="Nunito Sans" charset="0"/>
                        <a:ea typeface="Nunito Sans" charset="0"/>
                        <a:cs typeface="Nunito Sans" charset="0"/>
                      </a:endParaRPr>
                    </a:p>
                  </a:txBody>
                  <a:tcPr marL="88900" marR="88900" marT="50800" marB="50800" anchor="t">
                    <a:lnL w="12700" cap="flat" cmpd="sng" algn="ctr">
                      <a:solidFill>
                        <a:srgbClr val="C2B09A"/>
                      </a:solidFill>
                      <a:prstDash val="solid"/>
                      <a:round/>
                      <a:headEnd type="none" w="med" len="med"/>
                      <a:tailEnd type="none" w="med" len="med"/>
                    </a:lnL>
                    <a:lnR w="12700" cap="flat" cmpd="sng" algn="ctr">
                      <a:solidFill>
                        <a:srgbClr val="C2B09A"/>
                      </a:solidFill>
                      <a:prstDash val="solid"/>
                      <a:round/>
                      <a:headEnd type="none" w="med" len="med"/>
                      <a:tailEnd type="none" w="med" len="med"/>
                    </a:lnR>
                    <a:lnT w="12700" cap="flat" cmpd="sng" algn="ctr">
                      <a:solidFill>
                        <a:srgbClr val="B6B1A8"/>
                      </a:solidFill>
                      <a:prstDash val="solid"/>
                      <a:round/>
                      <a:headEnd type="none" w="med" len="med"/>
                      <a:tailEnd type="none" w="med" len="med"/>
                    </a:lnT>
                    <a:lnB w="12700" cap="flat" cmpd="sng" algn="ctr">
                      <a:solidFill>
                        <a:srgbClr val="C2B09A"/>
                      </a:solidFill>
                      <a:prstDash val="solid"/>
                      <a:round/>
                      <a:headEnd type="none" w="med" len="med"/>
                      <a:tailEnd type="none" w="med" len="med"/>
                    </a:lnB>
                    <a:solidFill>
                      <a:srgbClr val="F3DCC0"/>
                    </a:solidFill>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Amenaza</a:t>
                      </a:r>
                      <a:endParaRPr lang="en-US" sz="949" dirty="0">
                        <a:latin typeface="Nunito Sans" charset="0"/>
                        <a:ea typeface="Nunito Sans" charset="0"/>
                        <a:cs typeface="Nunito Sans" charset="0"/>
                      </a:endParaRPr>
                    </a:p>
                  </a:txBody>
                  <a:tcPr marL="88900" marR="88900" marT="50800" marB="50800" anchor="t">
                    <a:lnL w="12700" cap="flat" cmpd="sng" algn="ctr">
                      <a:solidFill>
                        <a:srgbClr val="C2B09A"/>
                      </a:solidFill>
                      <a:prstDash val="solid"/>
                      <a:round/>
                      <a:headEnd type="none" w="med" len="med"/>
                      <a:tailEnd type="none" w="med" len="med"/>
                    </a:lnL>
                    <a:lnR w="12700" cap="flat" cmpd="sng" algn="ctr">
                      <a:solidFill>
                        <a:srgbClr val="C2B09A"/>
                      </a:solidFill>
                      <a:prstDash val="solid"/>
                      <a:round/>
                      <a:headEnd type="none" w="med" len="med"/>
                      <a:tailEnd type="none" w="med" len="med"/>
                    </a:lnR>
                    <a:lnT w="12700" cap="flat" cmpd="sng" algn="ctr">
                      <a:solidFill>
                        <a:srgbClr val="B6B1A8"/>
                      </a:solidFill>
                      <a:prstDash val="solid"/>
                      <a:round/>
                      <a:headEnd type="none" w="med" len="med"/>
                      <a:tailEnd type="none" w="med" len="med"/>
                    </a:lnT>
                    <a:lnB w="12700" cap="flat" cmpd="sng" algn="ctr">
                      <a:solidFill>
                        <a:srgbClr val="C2B09A"/>
                      </a:solidFill>
                      <a:prstDash val="solid"/>
                      <a:round/>
                      <a:headEnd type="none" w="med" len="med"/>
                      <a:tailEnd type="none" w="med" len="med"/>
                    </a:lnB>
                    <a:solidFill>
                      <a:srgbClr val="F3DCC0"/>
                    </a:solidFill>
                  </a:tcPr>
                </a:tc>
                <a:tc>
                  <a:txBody>
                    <a:bodyPr/>
                    <a:lstStyle/>
                    <a:p>
                      <a:pPr indent="0" marL="0">
                        <a:lnSpc>
                          <a:spcPts val="1328"/>
                        </a:lnSpc>
                        <a:buNone/>
                      </a:pPr>
                      <a:r>
                        <a:rPr lang="en-US" sz="949" dirty="0">
                          <a:solidFill>
                            <a:srgbClr val="9A4507"/>
                          </a:solidFill>
                          <a:latin typeface="Nunito Sans" pitchFamily="34" charset="0"/>
                          <a:ea typeface="Nunito Sans" pitchFamily="34" charset="-122"/>
                          <a:cs typeface="Nunito Sans" pitchFamily="34" charset="-120"/>
                        </a:rPr>
                        <a:t>Alta </a:t>
                      </a:r>
                      <a:endParaRPr lang="en-US" sz="949" dirty="0">
                        <a:latin typeface="Nunito Sans" charset="0"/>
                        <a:ea typeface="Nunito Sans" charset="0"/>
                        <a:cs typeface="Nunito Sans" charset="0"/>
                      </a:endParaRPr>
                    </a:p>
                  </a:txBody>
                  <a:tcPr marL="88900" marR="88900" marT="50800" marB="50800" anchor="t">
                    <a:lnL w="12700" cap="flat" cmpd="sng" algn="ctr">
                      <a:solidFill>
                        <a:srgbClr val="C2B09A"/>
                      </a:solidFill>
                      <a:prstDash val="solid"/>
                      <a:round/>
                      <a:headEnd type="none" w="med" len="med"/>
                      <a:tailEnd type="none" w="med" len="med"/>
                    </a:lnL>
                    <a:lnR w="12700" cap="flat" cmpd="sng" algn="ctr">
                      <a:solidFill>
                        <a:srgbClr val="C2B09A"/>
                      </a:solidFill>
                      <a:prstDash val="solid"/>
                      <a:round/>
                      <a:headEnd type="none" w="med" len="med"/>
                      <a:tailEnd type="none" w="med" len="med"/>
                    </a:lnR>
                    <a:lnT w="12700" cap="flat" cmpd="sng" algn="ctr">
                      <a:solidFill>
                        <a:srgbClr val="B6B1A8"/>
                      </a:solidFill>
                      <a:prstDash val="solid"/>
                      <a:round/>
                      <a:headEnd type="none" w="med" len="med"/>
                      <a:tailEnd type="none" w="med" len="med"/>
                    </a:lnT>
                    <a:lnB w="12700" cap="flat" cmpd="sng" algn="ctr">
                      <a:solidFill>
                        <a:srgbClr val="C2B09A"/>
                      </a:solidFill>
                      <a:prstDash val="solid"/>
                      <a:round/>
                      <a:headEnd type="none" w="med" len="med"/>
                      <a:tailEnd type="none" w="med" len="med"/>
                    </a:lnB>
                    <a:solidFill>
                      <a:srgbClr val="F3DCC0"/>
                    </a:solidFill>
                  </a:tcPr>
                </a:tc>
              </a:tr>
              <a:tr h="451908">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Económico</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2B09A"/>
                      </a:solidFill>
                      <a:prstDash val="solid"/>
                      <a:round/>
                      <a:headEnd type="none" w="med" len="med"/>
                      <a:tailEnd type="none" w="med" len="med"/>
                    </a:lnR>
                    <a:lnT w="12700" cap="flat" cmpd="sng" algn="ctr">
                      <a:solidFill>
                        <a:srgbClr val="C2B09A"/>
                      </a:solidFill>
                      <a:prstDash val="solid"/>
                      <a:round/>
                      <a:headEnd type="none" w="med" len="med"/>
                      <a:tailEnd type="none" w="med" len="med"/>
                    </a:lnT>
                    <a:lnB w="12700" cap="flat" cmpd="sng" algn="ctr">
                      <a:solidFill>
                        <a:srgbClr val="C2B09A"/>
                      </a:solidFill>
                      <a:prstDash val="solid"/>
                      <a:round/>
                      <a:headEnd type="none" w="med" len="med"/>
                      <a:tailEnd type="none" w="med" len="med"/>
                    </a:lnB>
                    <a:solidFill>
                      <a:srgbClr val="F3DCC0"/>
                    </a:solidFill>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Salario mínimo de $1.750.905 (+23 %): sube la mano de obra</a:t>
                      </a:r>
                      <a:endParaRPr lang="en-US" sz="949" dirty="0">
                        <a:latin typeface="Nunito Sans" charset="0"/>
                        <a:ea typeface="Nunito Sans" charset="0"/>
                        <a:cs typeface="Nunito Sans" charset="0"/>
                      </a:endParaRPr>
                    </a:p>
                  </a:txBody>
                  <a:tcPr marL="88900" marR="88900" marT="50800" marB="50800" anchor="t">
                    <a:lnL w="12700" cap="flat" cmpd="sng" algn="ctr">
                      <a:solidFill>
                        <a:srgbClr val="C2B09A"/>
                      </a:solidFill>
                      <a:prstDash val="solid"/>
                      <a:round/>
                      <a:headEnd type="none" w="med" len="med"/>
                      <a:tailEnd type="none" w="med" len="med"/>
                    </a:lnL>
                    <a:lnR w="12700" cap="flat" cmpd="sng" algn="ctr">
                      <a:solidFill>
                        <a:srgbClr val="C2B09A"/>
                      </a:solidFill>
                      <a:prstDash val="solid"/>
                      <a:round/>
                      <a:headEnd type="none" w="med" len="med"/>
                      <a:tailEnd type="none" w="med" len="med"/>
                    </a:lnR>
                    <a:lnT w="12700" cap="flat" cmpd="sng" algn="ctr">
                      <a:solidFill>
                        <a:srgbClr val="C2B09A"/>
                      </a:solidFill>
                      <a:prstDash val="solid"/>
                      <a:round/>
                      <a:headEnd type="none" w="med" len="med"/>
                      <a:tailEnd type="none" w="med" len="med"/>
                    </a:lnT>
                    <a:lnB w="12700" cap="flat" cmpd="sng" algn="ctr">
                      <a:solidFill>
                        <a:srgbClr val="C2B09A"/>
                      </a:solidFill>
                      <a:prstDash val="solid"/>
                      <a:round/>
                      <a:headEnd type="none" w="med" len="med"/>
                      <a:tailEnd type="none" w="med" len="med"/>
                    </a:lnB>
                    <a:solidFill>
                      <a:srgbClr val="F3DCC0"/>
                    </a:solidFill>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Amenaza</a:t>
                      </a:r>
                      <a:endParaRPr lang="en-US" sz="949" dirty="0">
                        <a:latin typeface="Nunito Sans" charset="0"/>
                        <a:ea typeface="Nunito Sans" charset="0"/>
                        <a:cs typeface="Nunito Sans" charset="0"/>
                      </a:endParaRPr>
                    </a:p>
                  </a:txBody>
                  <a:tcPr marL="88900" marR="88900" marT="50800" marB="50800" anchor="t">
                    <a:lnL w="12700" cap="flat" cmpd="sng" algn="ctr">
                      <a:solidFill>
                        <a:srgbClr val="C2B09A"/>
                      </a:solidFill>
                      <a:prstDash val="solid"/>
                      <a:round/>
                      <a:headEnd type="none" w="med" len="med"/>
                      <a:tailEnd type="none" w="med" len="med"/>
                    </a:lnL>
                    <a:lnR w="12700" cap="flat" cmpd="sng" algn="ctr">
                      <a:solidFill>
                        <a:srgbClr val="C2B09A"/>
                      </a:solidFill>
                      <a:prstDash val="solid"/>
                      <a:round/>
                      <a:headEnd type="none" w="med" len="med"/>
                      <a:tailEnd type="none" w="med" len="med"/>
                    </a:lnR>
                    <a:lnT w="12700" cap="flat" cmpd="sng" algn="ctr">
                      <a:solidFill>
                        <a:srgbClr val="C2B09A"/>
                      </a:solidFill>
                      <a:prstDash val="solid"/>
                      <a:round/>
                      <a:headEnd type="none" w="med" len="med"/>
                      <a:tailEnd type="none" w="med" len="med"/>
                    </a:lnT>
                    <a:lnB w="12700" cap="flat" cmpd="sng" algn="ctr">
                      <a:solidFill>
                        <a:srgbClr val="C2B09A"/>
                      </a:solidFill>
                      <a:prstDash val="solid"/>
                      <a:round/>
                      <a:headEnd type="none" w="med" len="med"/>
                      <a:tailEnd type="none" w="med" len="med"/>
                    </a:lnB>
                    <a:solidFill>
                      <a:srgbClr val="F3DCC0"/>
                    </a:solidFill>
                  </a:tcPr>
                </a:tc>
                <a:tc>
                  <a:txBody>
                    <a:bodyPr/>
                    <a:lstStyle/>
                    <a:p>
                      <a:pPr indent="0" marL="0">
                        <a:lnSpc>
                          <a:spcPts val="1328"/>
                        </a:lnSpc>
                        <a:buNone/>
                      </a:pPr>
                      <a:r>
                        <a:rPr lang="en-US" sz="949" dirty="0">
                          <a:solidFill>
                            <a:srgbClr val="9A4507"/>
                          </a:solidFill>
                          <a:latin typeface="Nunito Sans" pitchFamily="34" charset="0"/>
                          <a:ea typeface="Nunito Sans" pitchFamily="34" charset="-122"/>
                          <a:cs typeface="Nunito Sans" pitchFamily="34" charset="-120"/>
                        </a:rPr>
                        <a:t>Alta </a:t>
                      </a:r>
                      <a:endParaRPr lang="en-US" sz="949" dirty="0">
                        <a:latin typeface="Nunito Sans" charset="0"/>
                        <a:ea typeface="Nunito Sans" charset="0"/>
                        <a:cs typeface="Nunito Sans" charset="0"/>
                      </a:endParaRPr>
                    </a:p>
                  </a:txBody>
                  <a:tcPr marL="88900" marR="88900" marT="50800" marB="50800" anchor="t">
                    <a:lnL w="12700" cap="flat" cmpd="sng" algn="ctr">
                      <a:solidFill>
                        <a:srgbClr val="C2B09A"/>
                      </a:solidFill>
                      <a:prstDash val="solid"/>
                      <a:round/>
                      <a:headEnd type="none" w="med" len="med"/>
                      <a:tailEnd type="none" w="med" len="med"/>
                    </a:lnL>
                    <a:lnR w="12700" cap="flat" cmpd="sng" algn="ctr">
                      <a:solidFill>
                        <a:srgbClr val="C2B09A"/>
                      </a:solidFill>
                      <a:prstDash val="solid"/>
                      <a:round/>
                      <a:headEnd type="none" w="med" len="med"/>
                      <a:tailEnd type="none" w="med" len="med"/>
                    </a:lnR>
                    <a:lnT w="12700" cap="flat" cmpd="sng" algn="ctr">
                      <a:solidFill>
                        <a:srgbClr val="C2B09A"/>
                      </a:solidFill>
                      <a:prstDash val="solid"/>
                      <a:round/>
                      <a:headEnd type="none" w="med" len="med"/>
                      <a:tailEnd type="none" w="med" len="med"/>
                    </a:lnT>
                    <a:lnB w="12700" cap="flat" cmpd="sng" algn="ctr">
                      <a:solidFill>
                        <a:srgbClr val="C2B09A"/>
                      </a:solidFill>
                      <a:prstDash val="solid"/>
                      <a:round/>
                      <a:headEnd type="none" w="med" len="med"/>
                      <a:tailEnd type="none" w="med" len="med"/>
                    </a:lnB>
                    <a:solidFill>
                      <a:srgbClr val="F3DCC0"/>
                    </a:solidFill>
                  </a:tcPr>
                </a:tc>
              </a:tr>
              <a:tr h="283236">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Social</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2B09A"/>
                      </a:solidFill>
                      <a:prstDash val="solid"/>
                      <a:round/>
                      <a:headEnd type="none" w="med" len="med"/>
                      <a:tailEnd type="none" w="med" len="med"/>
                    </a:lnR>
                    <a:lnT w="12700" cap="flat" cmpd="sng" algn="ctr">
                      <a:solidFill>
                        <a:srgbClr val="C2B09A"/>
                      </a:solidFill>
                      <a:prstDash val="solid"/>
                      <a:round/>
                      <a:headEnd type="none" w="med" len="med"/>
                      <a:tailEnd type="none" w="med" len="med"/>
                    </a:lnT>
                    <a:lnB w="12700" cap="flat" cmpd="sng" algn="ctr">
                      <a:solidFill>
                        <a:srgbClr val="C2B09A"/>
                      </a:solidFill>
                      <a:prstDash val="solid"/>
                      <a:round/>
                      <a:headEnd type="none" w="med" len="med"/>
                      <a:tailEnd type="none" w="med" len="med"/>
                    </a:lnB>
                    <a:solidFill>
                      <a:srgbClr val="F3DCC0"/>
                    </a:solidFill>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El consumo de pan en Colombia no crece</a:t>
                      </a:r>
                      <a:endParaRPr lang="en-US" sz="949" dirty="0">
                        <a:latin typeface="Nunito Sans" charset="0"/>
                        <a:ea typeface="Nunito Sans" charset="0"/>
                        <a:cs typeface="Nunito Sans" charset="0"/>
                      </a:endParaRPr>
                    </a:p>
                  </a:txBody>
                  <a:tcPr marL="88900" marR="88900" marT="50800" marB="50800" anchor="t">
                    <a:lnL w="12700" cap="flat" cmpd="sng" algn="ctr">
                      <a:solidFill>
                        <a:srgbClr val="C2B09A"/>
                      </a:solidFill>
                      <a:prstDash val="solid"/>
                      <a:round/>
                      <a:headEnd type="none" w="med" len="med"/>
                      <a:tailEnd type="none" w="med" len="med"/>
                    </a:lnL>
                    <a:lnR w="12700" cap="flat" cmpd="sng" algn="ctr">
                      <a:solidFill>
                        <a:srgbClr val="C2B09A"/>
                      </a:solidFill>
                      <a:prstDash val="solid"/>
                      <a:round/>
                      <a:headEnd type="none" w="med" len="med"/>
                      <a:tailEnd type="none" w="med" len="med"/>
                    </a:lnR>
                    <a:lnT w="12700" cap="flat" cmpd="sng" algn="ctr">
                      <a:solidFill>
                        <a:srgbClr val="C2B09A"/>
                      </a:solidFill>
                      <a:prstDash val="solid"/>
                      <a:round/>
                      <a:headEnd type="none" w="med" len="med"/>
                      <a:tailEnd type="none" w="med" len="med"/>
                    </a:lnT>
                    <a:lnB w="12700" cap="flat" cmpd="sng" algn="ctr">
                      <a:solidFill>
                        <a:srgbClr val="C2B09A"/>
                      </a:solidFill>
                      <a:prstDash val="solid"/>
                      <a:round/>
                      <a:headEnd type="none" w="med" len="med"/>
                      <a:tailEnd type="none" w="med" len="med"/>
                    </a:lnB>
                    <a:solidFill>
                      <a:srgbClr val="F3DCC0"/>
                    </a:solidFill>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Amenaza</a:t>
                      </a:r>
                      <a:endParaRPr lang="en-US" sz="949" dirty="0">
                        <a:latin typeface="Nunito Sans" charset="0"/>
                        <a:ea typeface="Nunito Sans" charset="0"/>
                        <a:cs typeface="Nunito Sans" charset="0"/>
                      </a:endParaRPr>
                    </a:p>
                  </a:txBody>
                  <a:tcPr marL="88900" marR="88900" marT="50800" marB="50800" anchor="t">
                    <a:lnL w="12700" cap="flat" cmpd="sng" algn="ctr">
                      <a:solidFill>
                        <a:srgbClr val="C2B09A"/>
                      </a:solidFill>
                      <a:prstDash val="solid"/>
                      <a:round/>
                      <a:headEnd type="none" w="med" len="med"/>
                      <a:tailEnd type="none" w="med" len="med"/>
                    </a:lnL>
                    <a:lnR w="12700" cap="flat" cmpd="sng" algn="ctr">
                      <a:solidFill>
                        <a:srgbClr val="C2B09A"/>
                      </a:solidFill>
                      <a:prstDash val="solid"/>
                      <a:round/>
                      <a:headEnd type="none" w="med" len="med"/>
                      <a:tailEnd type="none" w="med" len="med"/>
                    </a:lnR>
                    <a:lnT w="12700" cap="flat" cmpd="sng" algn="ctr">
                      <a:solidFill>
                        <a:srgbClr val="C2B09A"/>
                      </a:solidFill>
                      <a:prstDash val="solid"/>
                      <a:round/>
                      <a:headEnd type="none" w="med" len="med"/>
                      <a:tailEnd type="none" w="med" len="med"/>
                    </a:lnT>
                    <a:lnB w="12700" cap="flat" cmpd="sng" algn="ctr">
                      <a:solidFill>
                        <a:srgbClr val="C2B09A"/>
                      </a:solidFill>
                      <a:prstDash val="solid"/>
                      <a:round/>
                      <a:headEnd type="none" w="med" len="med"/>
                      <a:tailEnd type="none" w="med" len="med"/>
                    </a:lnB>
                    <a:solidFill>
                      <a:srgbClr val="F3DCC0"/>
                    </a:solidFill>
                  </a:tcPr>
                </a:tc>
                <a:tc>
                  <a:txBody>
                    <a:bodyPr/>
                    <a:lstStyle/>
                    <a:p>
                      <a:pPr indent="0" marL="0">
                        <a:lnSpc>
                          <a:spcPts val="1328"/>
                        </a:lnSpc>
                        <a:buNone/>
                      </a:pPr>
                      <a:r>
                        <a:rPr lang="en-US" sz="949" dirty="0">
                          <a:solidFill>
                            <a:srgbClr val="9A4507"/>
                          </a:solidFill>
                          <a:latin typeface="Nunito Sans" pitchFamily="34" charset="0"/>
                          <a:ea typeface="Nunito Sans" pitchFamily="34" charset="-122"/>
                          <a:cs typeface="Nunito Sans" pitchFamily="34" charset="-120"/>
                        </a:rPr>
                        <a:t>Alta </a:t>
                      </a:r>
                      <a:endParaRPr lang="en-US" sz="949" dirty="0">
                        <a:latin typeface="Nunito Sans" charset="0"/>
                        <a:ea typeface="Nunito Sans" charset="0"/>
                        <a:cs typeface="Nunito Sans" charset="0"/>
                      </a:endParaRPr>
                    </a:p>
                  </a:txBody>
                  <a:tcPr marL="88900" marR="88900" marT="50800" marB="50800" anchor="t">
                    <a:lnL w="12700" cap="flat" cmpd="sng" algn="ctr">
                      <a:solidFill>
                        <a:srgbClr val="C2B09A"/>
                      </a:solidFill>
                      <a:prstDash val="solid"/>
                      <a:round/>
                      <a:headEnd type="none" w="med" len="med"/>
                      <a:tailEnd type="none" w="med" len="med"/>
                    </a:lnL>
                    <a:lnR w="12700" cap="flat" cmpd="sng" algn="ctr">
                      <a:solidFill>
                        <a:srgbClr val="C2B09A"/>
                      </a:solidFill>
                      <a:prstDash val="solid"/>
                      <a:round/>
                      <a:headEnd type="none" w="med" len="med"/>
                      <a:tailEnd type="none" w="med" len="med"/>
                    </a:lnR>
                    <a:lnT w="12700" cap="flat" cmpd="sng" algn="ctr">
                      <a:solidFill>
                        <a:srgbClr val="C2B09A"/>
                      </a:solidFill>
                      <a:prstDash val="solid"/>
                      <a:round/>
                      <a:headEnd type="none" w="med" len="med"/>
                      <a:tailEnd type="none" w="med" len="med"/>
                    </a:lnT>
                    <a:lnB w="12700" cap="flat" cmpd="sng" algn="ctr">
                      <a:solidFill>
                        <a:srgbClr val="C2B09A"/>
                      </a:solidFill>
                      <a:prstDash val="solid"/>
                      <a:round/>
                      <a:headEnd type="none" w="med" len="med"/>
                      <a:tailEnd type="none" w="med" len="med"/>
                    </a:lnB>
                    <a:solidFill>
                      <a:srgbClr val="F3DCC0"/>
                    </a:solidFill>
                  </a:tcPr>
                </a:tc>
              </a:tr>
              <a:tr h="451974">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Económico</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2B09A"/>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Tasa del Banco de la República en 12,25 %: crédito más caro</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2B09A"/>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Amenaza</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2B09A"/>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Media </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2B09A"/>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r>
              <a:tr h="451974">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Legal</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Jornada de 42 horas (Ley 2101): los turnos de 8 h cumplen</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Amenaza</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Media </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r>
              <a:tr h="283303">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Tecnológico</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Medellín, Distrito CTI: apoyo de Ruta N</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F5D8A"/>
                          </a:solidFill>
                          <a:latin typeface="Nunito Sans" pitchFamily="34" charset="0"/>
                          <a:ea typeface="Nunito Sans" pitchFamily="34" charset="-122"/>
                          <a:cs typeface="Nunito Sans" pitchFamily="34" charset="-120"/>
                        </a:rPr>
                        <a:t>Oportunidad</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Media </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r>
              <a:tr h="451974">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Social</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Desempleo de 9,4 %: personal operativo disponible</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F5D8A"/>
                          </a:solidFill>
                          <a:latin typeface="Nunito Sans" pitchFamily="34" charset="0"/>
                          <a:ea typeface="Nunito Sans" pitchFamily="34" charset="-122"/>
                          <a:cs typeface="Nunito Sans" pitchFamily="34" charset="-120"/>
                        </a:rPr>
                        <a:t>Oportunidad</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Media </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r>
              <a:tr h="451974">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Legal</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Protección de datos (Ley 1581): la app no guarda datos sensibles</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Amenaza</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Media </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r>
              <a:tr h="451974">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Político</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Nuevo gobierno: posibles cambios en el apoyo a mipymes</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Amenaza</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Media </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r>
              <a:tr h="451974">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Ecológico</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Ley 2169: menos desperdicio y gas suman a la meta</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F5D8A"/>
                          </a:solidFill>
                          <a:latin typeface="Nunito Sans" pitchFamily="34" charset="0"/>
                          <a:ea typeface="Nunito Sans" pitchFamily="34" charset="-122"/>
                          <a:cs typeface="Nunito Sans" pitchFamily="34" charset="-120"/>
                        </a:rPr>
                        <a:t>Oportunidad</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c>
                  <a:txBody>
                    <a:bodyPr/>
                    <a:lstStyle/>
                    <a:p>
                      <a:pPr indent="0" marL="0">
                        <a:lnSpc>
                          <a:spcPts val="1328"/>
                        </a:lnSpc>
                        <a:buNone/>
                      </a:pPr>
                      <a:r>
                        <a:rPr lang="en-US" sz="949" dirty="0">
                          <a:solidFill>
                            <a:srgbClr val="2A1E16"/>
                          </a:solidFill>
                          <a:latin typeface="Nunito Sans" pitchFamily="34" charset="0"/>
                          <a:ea typeface="Nunito Sans" pitchFamily="34" charset="-122"/>
                          <a:cs typeface="Nunito Sans" pitchFamily="34" charset="-120"/>
                        </a:rPr>
                        <a:t>Media </a:t>
                      </a:r>
                      <a:endParaRPr lang="en-US" sz="949" dirty="0">
                        <a:latin typeface="Nunito Sans" charset="0"/>
                        <a:ea typeface="Nunito Sans" charset="0"/>
                        <a:cs typeface="Nunito Sans" charset="0"/>
                      </a:endParaRPr>
                    </a:p>
                  </a:txBody>
                  <a:tcPr marL="88900" marR="88900" marT="50800" marB="50800" anchor="t">
                    <a:lnL w="12700" cap="flat" cmpd="sng" algn="ctr">
                      <a:solidFill>
                        <a:srgbClr val="C4BFB5"/>
                      </a:solidFill>
                      <a:prstDash val="solid"/>
                      <a:round/>
                      <a:headEnd type="none" w="med" len="med"/>
                      <a:tailEnd type="none" w="med" len="med"/>
                    </a:lnL>
                    <a:lnR w="12700" cap="flat" cmpd="sng" algn="ctr">
                      <a:solidFill>
                        <a:srgbClr val="C4BFB5"/>
                      </a:solidFill>
                      <a:prstDash val="solid"/>
                      <a:round/>
                      <a:headEnd type="none" w="med" len="med"/>
                      <a:tailEnd type="none" w="med" len="med"/>
                    </a:lnR>
                    <a:lnT w="12700" cap="flat" cmpd="sng" algn="ctr">
                      <a:solidFill>
                        <a:srgbClr val="C4BFB5"/>
                      </a:solidFill>
                      <a:prstDash val="solid"/>
                      <a:round/>
                      <a:headEnd type="none" w="med" len="med"/>
                      <a:tailEnd type="none" w="med" len="med"/>
                    </a:lnT>
                    <a:lnB w="12700" cap="flat" cmpd="sng" algn="ctr">
                      <a:solidFill>
                        <a:srgbClr val="C4BFB5"/>
                      </a:solidFill>
                      <a:prstDash val="solid"/>
                      <a:round/>
                      <a:headEnd type="none" w="med" len="med"/>
                      <a:tailEnd type="none" w="med" len="med"/>
                    </a:lnB>
                  </a:tcPr>
                </a:tc>
              </a:tr>
            </a:tbl>
          </a:graphicData>
        </a:graphic>
      </p:graphicFrame>
      <p:sp>
        <p:nvSpPr>
          <p:cNvPr id="4" name="Text 1"/>
          <p:cNvSpPr/>
          <p:nvPr/>
        </p:nvSpPr>
        <p:spPr>
          <a:xfrm>
            <a:off x="0" y="6292323"/>
            <a:ext cx="75187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A4A"/>
                </a:solidFill>
                <a:latin typeface="Nunito Sans" pitchFamily="34" charset="0"/>
                <a:ea typeface="Nunito Sans" pitchFamily="34" charset="-122"/>
                <a:cs typeface="Nunito Sans" pitchFamily="34" charset="-120"/>
              </a:rPr>
              <a:t>Panadería San Nicolás · Segunda entrega · Fuentes: DANE, BanRep, decretos y leyes citadas</a:t>
            </a:r>
            <a:endParaRPr lang="en-US" sz="1200" dirty="0">
              <a:latin typeface="Nunito Sans" charset="0"/>
              <a:ea typeface="Nunito Sans" charset="0"/>
              <a:cs typeface="Nunito Sans" charset="0"/>
            </a:endParaRPr>
          </a:p>
        </p:txBody>
      </p:sp>
      <p:sp>
        <p:nvSpPr>
          <p:cNvPr id="5" name="Text 2"/>
          <p:cNvSpPr/>
          <p:nvPr/>
        </p:nvSpPr>
        <p:spPr>
          <a:xfrm>
            <a:off x="10424120" y="6292323"/>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A4A"/>
                </a:solidFill>
                <a:latin typeface="Nunito Sans" pitchFamily="34" charset="0"/>
                <a:ea typeface="Nunito Sans" pitchFamily="34" charset="-122"/>
                <a:cs typeface="Nunito Sans" pitchFamily="34" charset="-120"/>
              </a:rPr>
              <a:t>4</a:t>
            </a:r>
            <a:endParaRPr lang="en-US" sz="1200" dirty="0">
              <a:latin typeface="Nunito Sans" charset="0"/>
              <a:ea typeface="Nunito Sans" charset="0"/>
              <a:cs typeface="Nunito Sans"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EFE3"/>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1379200"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E16"/>
                </a:solidFill>
                <a:latin typeface="Domine" pitchFamily="18" charset="0"/>
                <a:ea typeface="Domine" pitchFamily="18" charset="-122"/>
                <a:cs typeface="Domine" pitchFamily="18" charset="-120"/>
              </a:rPr>
              <a:t>Financiación: recursos propios con la Cantera UdeM</a:t>
            </a:r>
            <a:endParaRPr lang="en-US" sz="3200" dirty="0">
              <a:latin typeface="Domine" charset="0"/>
              <a:ea typeface="Domine" charset="0"/>
              <a:cs typeface="Domine" charset="0"/>
            </a:endParaRPr>
          </a:p>
        </p:txBody>
      </p:sp>
      <p:sp>
        <p:nvSpPr>
          <p:cNvPr id="3" name="Shape 1"/>
          <p:cNvSpPr/>
          <p:nvPr/>
        </p:nvSpPr>
        <p:spPr>
          <a:xfrm>
            <a:off x="815975" y="1466190"/>
            <a:ext cx="2787650" cy="2684000"/>
          </a:xfrm>
          <a:prstGeom prst="roundRect">
            <a:avLst>
              <a:gd name="adj" fmla="val 3667"/>
            </a:avLst>
          </a:prstGeom>
          <a:solidFill>
            <a:srgbClr val="FFFAF2"/>
          </a:solidFill>
          <a:ln w="6350">
            <a:solidFill>
              <a:srgbClr val="E3D6C2"/>
            </a:solidFill>
            <a:prstDash val="solid"/>
          </a:ln>
        </p:spPr>
      </p:sp>
      <p:sp>
        <p:nvSpPr>
          <p:cNvPr id="4" name="Text 2"/>
          <p:cNvSpPr/>
          <p:nvPr/>
        </p:nvSpPr>
        <p:spPr>
          <a:xfrm>
            <a:off x="1020233" y="1645047"/>
            <a:ext cx="245050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9"/>
                </a:solidFill>
                <a:latin typeface="Nunito Sans" pitchFamily="34" charset="0"/>
                <a:ea typeface="Nunito Sans" pitchFamily="34" charset="-122"/>
                <a:cs typeface="Nunito Sans" pitchFamily="34" charset="-120"/>
              </a:rPr>
              <a:t>NECESIDAD</a:t>
            </a:r>
            <a:endParaRPr lang="en-US" sz="1200" dirty="0">
              <a:latin typeface="Nunito Sans" charset="0"/>
              <a:ea typeface="Nunito Sans" charset="0"/>
              <a:cs typeface="Nunito Sans" charset="0"/>
            </a:endParaRPr>
          </a:p>
        </p:txBody>
      </p:sp>
      <p:sp>
        <p:nvSpPr>
          <p:cNvPr id="5" name="Text 3"/>
          <p:cNvSpPr/>
          <p:nvPr/>
        </p:nvSpPr>
        <p:spPr>
          <a:xfrm>
            <a:off x="1020233" y="1934567"/>
            <a:ext cx="2450507" cy="1053968"/>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2A1E16"/>
                </a:solidFill>
                <a:latin typeface="Nunito Sans" pitchFamily="34" charset="0"/>
                <a:ea typeface="Nunito Sans" pitchFamily="34" charset="-122"/>
                <a:cs typeface="Nunito Sans" pitchFamily="34" charset="-120"/>
              </a:rPr>
              <a:t>Monto:</a:t>
            </a:r>
            <a:r>
              <a:rPr lang="en-US" sz="1200" dirty="0">
                <a:solidFill>
                  <a:srgbClr val="2A1E16"/>
                </a:solidFill>
                <a:latin typeface="Nunito Sans" pitchFamily="34" charset="0"/>
                <a:ea typeface="Nunito Sans" pitchFamily="34" charset="-122"/>
                <a:cs typeface="Nunito Sans" pitchFamily="34" charset="-120"/>
              </a:rPr>
              <a:t> $4,8 M (≈ 2,74 SMMLV)</a:t>
            </a:r>
            <a:endParaRPr lang="en-US" sz="1200" dirty="0">
              <a:latin typeface="Nunito Sans" charset="0"/>
              <a:ea typeface="Nunito Sans" charset="0"/>
              <a:cs typeface="Nunito Sans" charset="0"/>
            </a:endParaRPr>
          </a:p>
          <a:p>
            <a:pPr algn="l" indent="0" marL="0">
              <a:lnSpc>
                <a:spcPts val="1620"/>
              </a:lnSpc>
              <a:buNone/>
            </a:pPr>
            <a:r>
              <a:rPr lang="en-US" sz="1200" b="1" dirty="0">
                <a:solidFill>
                  <a:srgbClr val="2A1E16"/>
                </a:solidFill>
                <a:latin typeface="Nunito Sans" pitchFamily="34" charset="0"/>
                <a:ea typeface="Nunito Sans" pitchFamily="34" charset="-122"/>
                <a:cs typeface="Nunito Sans" pitchFamily="34" charset="-120"/>
              </a:rPr>
              <a:t>Uso:</a:t>
            </a:r>
            <a:r>
              <a:rPr lang="en-US" sz="1200" dirty="0">
                <a:solidFill>
                  <a:srgbClr val="2A1E16"/>
                </a:solidFill>
                <a:latin typeface="Nunito Sans" pitchFamily="34" charset="0"/>
                <a:ea typeface="Nunito Sans" pitchFamily="34" charset="-122"/>
                <a:cs typeface="Nunito Sans" pitchFamily="34" charset="-120"/>
              </a:rPr>
              <a:t> escalar a otras panaderías</a:t>
            </a:r>
            <a:endParaRPr lang="en-US" sz="1200" dirty="0">
              <a:latin typeface="Nunito Sans" charset="0"/>
              <a:ea typeface="Nunito Sans" charset="0"/>
              <a:cs typeface="Nunito Sans" charset="0"/>
            </a:endParaRPr>
          </a:p>
          <a:p>
            <a:pPr algn="l" indent="0" marL="0">
              <a:lnSpc>
                <a:spcPts val="1620"/>
              </a:lnSpc>
              <a:buNone/>
            </a:pPr>
            <a:r>
              <a:rPr lang="en-US" sz="1200" b="1" dirty="0">
                <a:solidFill>
                  <a:srgbClr val="2A1E16"/>
                </a:solidFill>
                <a:latin typeface="Nunito Sans" pitchFamily="34" charset="0"/>
                <a:ea typeface="Nunito Sans" pitchFamily="34" charset="-122"/>
                <a:cs typeface="Nunito Sans" pitchFamily="34" charset="-120"/>
              </a:rPr>
              <a:t>Etapa:</a:t>
            </a:r>
            <a:r>
              <a:rPr lang="en-US" sz="1200" dirty="0">
                <a:solidFill>
                  <a:srgbClr val="2A1E16"/>
                </a:solidFill>
                <a:latin typeface="Nunito Sans" pitchFamily="34" charset="0"/>
                <a:ea typeface="Nunito Sans" pitchFamily="34" charset="-122"/>
                <a:cs typeface="Nunito Sans" pitchFamily="34" charset="-120"/>
              </a:rPr>
              <a:t> validación</a:t>
            </a:r>
            <a:endParaRPr lang="en-US" sz="1200" dirty="0">
              <a:latin typeface="Nunito Sans" charset="0"/>
              <a:ea typeface="Nunito Sans" charset="0"/>
              <a:cs typeface="Nunito Sans" charset="0"/>
            </a:endParaRPr>
          </a:p>
          <a:p>
            <a:pPr algn="l" indent="0" marL="0">
              <a:lnSpc>
                <a:spcPts val="1620"/>
              </a:lnSpc>
              <a:buNone/>
            </a:pPr>
            <a:r>
              <a:rPr lang="en-US" sz="1200" b="1" dirty="0">
                <a:solidFill>
                  <a:srgbClr val="2A1E16"/>
                </a:solidFill>
                <a:latin typeface="Nunito Sans" pitchFamily="34" charset="0"/>
                <a:ea typeface="Nunito Sans" pitchFamily="34" charset="-122"/>
                <a:cs typeface="Nunito Sans" pitchFamily="34" charset="-120"/>
              </a:rPr>
              <a:t>Momento:</a:t>
            </a:r>
            <a:r>
              <a:rPr lang="en-US" sz="1200" dirty="0">
                <a:solidFill>
                  <a:srgbClr val="2A1E16"/>
                </a:solidFill>
                <a:latin typeface="Nunito Sans" pitchFamily="34" charset="0"/>
                <a:ea typeface="Nunito Sans" pitchFamily="34" charset="-122"/>
                <a:cs typeface="Nunito Sans" pitchFamily="34" charset="-120"/>
              </a:rPr>
              <a:t> 1.er semestre 2027</a:t>
            </a:r>
            <a:endParaRPr lang="en-US" sz="1200" dirty="0">
              <a:latin typeface="Nunito Sans" charset="0"/>
              <a:ea typeface="Nunito Sans" charset="0"/>
              <a:cs typeface="Nunito Sans" charset="0"/>
            </a:endParaRPr>
          </a:p>
          <a:p>
            <a:pPr algn="l" indent="0" marL="0">
              <a:lnSpc>
                <a:spcPts val="1620"/>
              </a:lnSpc>
              <a:buNone/>
            </a:pPr>
            <a:r>
              <a:rPr lang="en-US" sz="1200" b="1" dirty="0">
                <a:solidFill>
                  <a:srgbClr val="2A1E16"/>
                </a:solidFill>
                <a:latin typeface="Nunito Sans" pitchFamily="34" charset="0"/>
                <a:ea typeface="Nunito Sans" pitchFamily="34" charset="-122"/>
                <a:cs typeface="Nunito Sans" pitchFamily="34" charset="-120"/>
              </a:rPr>
              <a:t>Control:</a:t>
            </a:r>
            <a:r>
              <a:rPr lang="en-US" sz="1200" dirty="0">
                <a:solidFill>
                  <a:srgbClr val="2A1E16"/>
                </a:solidFill>
                <a:latin typeface="Nunito Sans" pitchFamily="34" charset="0"/>
                <a:ea typeface="Nunito Sans" pitchFamily="34" charset="-122"/>
                <a:cs typeface="Nunito Sans" pitchFamily="34" charset="-120"/>
              </a:rPr>
              <a:t> 0 % de cesión</a:t>
            </a:r>
            <a:endParaRPr lang="en-US" sz="1200" dirty="0">
              <a:latin typeface="Nunito Sans" charset="0"/>
              <a:ea typeface="Nunito Sans" charset="0"/>
              <a:cs typeface="Nunito Sans" charset="0"/>
            </a:endParaRPr>
          </a:p>
        </p:txBody>
      </p:sp>
      <p:sp>
        <p:nvSpPr>
          <p:cNvPr id="6" name="Shape 4"/>
          <p:cNvSpPr/>
          <p:nvPr/>
        </p:nvSpPr>
        <p:spPr>
          <a:xfrm>
            <a:off x="3762375" y="1466190"/>
            <a:ext cx="4413250" cy="2684000"/>
          </a:xfrm>
          <a:prstGeom prst="roundRect">
            <a:avLst>
              <a:gd name="adj" fmla="val 3667"/>
            </a:avLst>
          </a:prstGeom>
          <a:solidFill>
            <a:srgbClr val="FFFAF2"/>
          </a:solidFill>
          <a:ln w="6350">
            <a:solidFill>
              <a:srgbClr val="E3D6C2"/>
            </a:solidFill>
            <a:prstDash val="solid"/>
          </a:ln>
        </p:spPr>
      </p:sp>
      <p:sp>
        <p:nvSpPr>
          <p:cNvPr id="7" name="Text 5"/>
          <p:cNvSpPr/>
          <p:nvPr/>
        </p:nvSpPr>
        <p:spPr>
          <a:xfrm>
            <a:off x="3966633" y="1645047"/>
            <a:ext cx="412487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9"/>
                </a:solidFill>
                <a:latin typeface="Nunito Sans" pitchFamily="34" charset="0"/>
                <a:ea typeface="Nunito Sans" pitchFamily="34" charset="-122"/>
                <a:cs typeface="Nunito Sans" pitchFamily="34" charset="-120"/>
              </a:rPr>
              <a:t>MATRIZ MULTICRITERIO (1 A 5)</a:t>
            </a:r>
            <a:endParaRPr lang="en-US" sz="1200" dirty="0">
              <a:latin typeface="Nunito Sans" charset="0"/>
              <a:ea typeface="Nunito Sans" charset="0"/>
              <a:cs typeface="Nunito Sans" charset="0"/>
            </a:endParaRPr>
          </a:p>
        </p:txBody>
      </p:sp>
      <p:sp>
        <p:nvSpPr>
          <p:cNvPr id="8" name="Text 6"/>
          <p:cNvSpPr/>
          <p:nvPr/>
        </p:nvSpPr>
        <p:spPr>
          <a:xfrm>
            <a:off x="3966633" y="1934567"/>
            <a:ext cx="41248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E16"/>
                </a:solidFill>
                <a:latin typeface="Nunito Sans" pitchFamily="34" charset="0"/>
                <a:ea typeface="Nunito Sans" pitchFamily="34" charset="-122"/>
                <a:cs typeface="Nunito Sans" pitchFamily="34" charset="-120"/>
              </a:rPr>
              <a:t>A · Propios + Cantera UdeM</a:t>
            </a:r>
            <a:endParaRPr lang="en-US" sz="1200" dirty="0">
              <a:latin typeface="Nunito Sans" charset="0"/>
              <a:ea typeface="Nunito Sans" charset="0"/>
              <a:cs typeface="Nunito Sans" charset="0"/>
            </a:endParaRPr>
          </a:p>
        </p:txBody>
      </p:sp>
      <p:sp>
        <p:nvSpPr>
          <p:cNvPr id="9" name="Shape 7"/>
          <p:cNvSpPr/>
          <p:nvPr/>
        </p:nvSpPr>
        <p:spPr>
          <a:xfrm>
            <a:off x="3966633" y="2191017"/>
            <a:ext cx="2159000" cy="177800"/>
          </a:xfrm>
          <a:prstGeom prst="roundRect">
            <a:avLst>
              <a:gd name="adj" fmla="val 21429"/>
            </a:avLst>
          </a:prstGeom>
          <a:solidFill>
            <a:srgbClr val="B45309"/>
          </a:solidFill>
          <a:ln/>
        </p:spPr>
      </p:sp>
      <p:sp>
        <p:nvSpPr>
          <p:cNvPr id="10" name="Text 8"/>
          <p:cNvSpPr/>
          <p:nvPr/>
        </p:nvSpPr>
        <p:spPr>
          <a:xfrm>
            <a:off x="6201833" y="2173288"/>
            <a:ext cx="3767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E16"/>
                </a:solidFill>
                <a:latin typeface="Nunito Sans" pitchFamily="34" charset="0"/>
                <a:ea typeface="Nunito Sans" pitchFamily="34" charset="-122"/>
                <a:cs typeface="Nunito Sans" pitchFamily="34" charset="-120"/>
              </a:rPr>
              <a:t>4,25</a:t>
            </a:r>
            <a:endParaRPr lang="en-US" sz="1200" dirty="0">
              <a:latin typeface="Nunito Sans" charset="0"/>
              <a:ea typeface="Nunito Sans" charset="0"/>
              <a:cs typeface="Nunito Sans" charset="0"/>
            </a:endParaRPr>
          </a:p>
        </p:txBody>
      </p:sp>
      <p:sp>
        <p:nvSpPr>
          <p:cNvPr id="11" name="Text 9"/>
          <p:cNvSpPr/>
          <p:nvPr/>
        </p:nvSpPr>
        <p:spPr>
          <a:xfrm>
            <a:off x="3966633" y="2462808"/>
            <a:ext cx="41248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C · Vaki (crowdfunding)</a:t>
            </a:r>
            <a:endParaRPr lang="en-US" sz="1200" dirty="0">
              <a:latin typeface="Nunito Sans" charset="0"/>
              <a:ea typeface="Nunito Sans" charset="0"/>
              <a:cs typeface="Nunito Sans" charset="0"/>
            </a:endParaRPr>
          </a:p>
        </p:txBody>
      </p:sp>
      <p:sp>
        <p:nvSpPr>
          <p:cNvPr id="12" name="Shape 10"/>
          <p:cNvSpPr/>
          <p:nvPr/>
        </p:nvSpPr>
        <p:spPr>
          <a:xfrm>
            <a:off x="3966633" y="2719257"/>
            <a:ext cx="1879600" cy="177800"/>
          </a:xfrm>
          <a:prstGeom prst="roundRect">
            <a:avLst>
              <a:gd name="adj" fmla="val 21429"/>
            </a:avLst>
          </a:prstGeom>
          <a:solidFill>
            <a:srgbClr val="D9B48A"/>
          </a:solidFill>
          <a:ln/>
        </p:spPr>
      </p:sp>
      <p:sp>
        <p:nvSpPr>
          <p:cNvPr id="13" name="Text 11"/>
          <p:cNvSpPr/>
          <p:nvPr/>
        </p:nvSpPr>
        <p:spPr>
          <a:xfrm>
            <a:off x="5922433" y="2701528"/>
            <a:ext cx="3767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E16"/>
                </a:solidFill>
                <a:latin typeface="Nunito Sans" pitchFamily="34" charset="0"/>
                <a:ea typeface="Nunito Sans" pitchFamily="34" charset="-122"/>
                <a:cs typeface="Nunito Sans" pitchFamily="34" charset="-120"/>
              </a:rPr>
              <a:t>3,70</a:t>
            </a:r>
            <a:endParaRPr lang="en-US" sz="1200" dirty="0">
              <a:latin typeface="Nunito Sans" charset="0"/>
              <a:ea typeface="Nunito Sans" charset="0"/>
              <a:cs typeface="Nunito Sans" charset="0"/>
            </a:endParaRPr>
          </a:p>
        </p:txBody>
      </p:sp>
      <p:sp>
        <p:nvSpPr>
          <p:cNvPr id="14" name="Text 12"/>
          <p:cNvSpPr/>
          <p:nvPr/>
        </p:nvSpPr>
        <p:spPr>
          <a:xfrm>
            <a:off x="3966633" y="2991048"/>
            <a:ext cx="41248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D · Fondo Emprender 2027</a:t>
            </a:r>
            <a:endParaRPr lang="en-US" sz="1200" dirty="0">
              <a:latin typeface="Nunito Sans" charset="0"/>
              <a:ea typeface="Nunito Sans" charset="0"/>
              <a:cs typeface="Nunito Sans" charset="0"/>
            </a:endParaRPr>
          </a:p>
        </p:txBody>
      </p:sp>
      <p:sp>
        <p:nvSpPr>
          <p:cNvPr id="15" name="Shape 13"/>
          <p:cNvSpPr/>
          <p:nvPr/>
        </p:nvSpPr>
        <p:spPr>
          <a:xfrm>
            <a:off x="3966633" y="3247498"/>
            <a:ext cx="1778000" cy="177800"/>
          </a:xfrm>
          <a:prstGeom prst="roundRect">
            <a:avLst>
              <a:gd name="adj" fmla="val 21429"/>
            </a:avLst>
          </a:prstGeom>
          <a:solidFill>
            <a:srgbClr val="D9B48A"/>
          </a:solidFill>
          <a:ln/>
        </p:spPr>
      </p:sp>
      <p:sp>
        <p:nvSpPr>
          <p:cNvPr id="16" name="Text 14"/>
          <p:cNvSpPr/>
          <p:nvPr/>
        </p:nvSpPr>
        <p:spPr>
          <a:xfrm>
            <a:off x="5820833" y="3229769"/>
            <a:ext cx="3767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E16"/>
                </a:solidFill>
                <a:latin typeface="Nunito Sans" pitchFamily="34" charset="0"/>
                <a:ea typeface="Nunito Sans" pitchFamily="34" charset="-122"/>
                <a:cs typeface="Nunito Sans" pitchFamily="34" charset="-120"/>
              </a:rPr>
              <a:t>3,50</a:t>
            </a:r>
            <a:endParaRPr lang="en-US" sz="1200" dirty="0">
              <a:latin typeface="Nunito Sans" charset="0"/>
              <a:ea typeface="Nunito Sans" charset="0"/>
              <a:cs typeface="Nunito Sans" charset="0"/>
            </a:endParaRPr>
          </a:p>
        </p:txBody>
      </p:sp>
      <p:sp>
        <p:nvSpPr>
          <p:cNvPr id="17" name="Text 15"/>
          <p:cNvSpPr/>
          <p:nvPr/>
        </p:nvSpPr>
        <p:spPr>
          <a:xfrm>
            <a:off x="3966633" y="3519289"/>
            <a:ext cx="41248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B · Crédito Germina</a:t>
            </a:r>
            <a:endParaRPr lang="en-US" sz="1200" dirty="0">
              <a:latin typeface="Nunito Sans" charset="0"/>
              <a:ea typeface="Nunito Sans" charset="0"/>
              <a:cs typeface="Nunito Sans" charset="0"/>
            </a:endParaRPr>
          </a:p>
        </p:txBody>
      </p:sp>
      <p:sp>
        <p:nvSpPr>
          <p:cNvPr id="18" name="Shape 16"/>
          <p:cNvSpPr/>
          <p:nvPr/>
        </p:nvSpPr>
        <p:spPr>
          <a:xfrm>
            <a:off x="3966633" y="3775739"/>
            <a:ext cx="1524000" cy="177800"/>
          </a:xfrm>
          <a:prstGeom prst="roundRect">
            <a:avLst>
              <a:gd name="adj" fmla="val 21429"/>
            </a:avLst>
          </a:prstGeom>
          <a:solidFill>
            <a:srgbClr val="D9B48A"/>
          </a:solidFill>
          <a:ln/>
        </p:spPr>
      </p:sp>
      <p:sp>
        <p:nvSpPr>
          <p:cNvPr id="19" name="Text 17"/>
          <p:cNvSpPr/>
          <p:nvPr/>
        </p:nvSpPr>
        <p:spPr>
          <a:xfrm>
            <a:off x="5566833" y="3758009"/>
            <a:ext cx="37679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E16"/>
                </a:solidFill>
                <a:latin typeface="Nunito Sans" pitchFamily="34" charset="0"/>
                <a:ea typeface="Nunito Sans" pitchFamily="34" charset="-122"/>
                <a:cs typeface="Nunito Sans" pitchFamily="34" charset="-120"/>
              </a:rPr>
              <a:t>3,00</a:t>
            </a:r>
            <a:endParaRPr lang="en-US" sz="1200" dirty="0">
              <a:latin typeface="Nunito Sans" charset="0"/>
              <a:ea typeface="Nunito Sans" charset="0"/>
              <a:cs typeface="Nunito Sans" charset="0"/>
            </a:endParaRPr>
          </a:p>
        </p:txBody>
      </p:sp>
      <p:sp>
        <p:nvSpPr>
          <p:cNvPr id="20" name="Shape 18"/>
          <p:cNvSpPr/>
          <p:nvPr/>
        </p:nvSpPr>
        <p:spPr>
          <a:xfrm>
            <a:off x="8334375" y="1466190"/>
            <a:ext cx="3041650" cy="2684000"/>
          </a:xfrm>
          <a:prstGeom prst="roundRect">
            <a:avLst>
              <a:gd name="adj" fmla="val 3667"/>
            </a:avLst>
          </a:prstGeom>
          <a:solidFill>
            <a:srgbClr val="FFFAF2"/>
          </a:solidFill>
          <a:ln w="6350">
            <a:solidFill>
              <a:srgbClr val="E3D6C2"/>
            </a:solidFill>
            <a:prstDash val="solid"/>
          </a:ln>
        </p:spPr>
      </p:sp>
      <p:sp>
        <p:nvSpPr>
          <p:cNvPr id="21" name="Text 19"/>
          <p:cNvSpPr/>
          <p:nvPr/>
        </p:nvSpPr>
        <p:spPr>
          <a:xfrm>
            <a:off x="8538634" y="1645047"/>
            <a:ext cx="27121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D8A"/>
                </a:solidFill>
                <a:latin typeface="Nunito Sans" pitchFamily="34" charset="0"/>
                <a:ea typeface="Nunito Sans" pitchFamily="34" charset="-122"/>
                <a:cs typeface="Nunito Sans" pitchFamily="34" charset="-120"/>
              </a:rPr>
              <a:t>TASA vs. VPN A 24 MESES</a:t>
            </a:r>
            <a:endParaRPr lang="en-US" sz="1200" dirty="0">
              <a:latin typeface="Nunito Sans" charset="0"/>
              <a:ea typeface="Nunito Sans" charset="0"/>
              <a:cs typeface="Nunito Sans" charset="0"/>
            </a:endParaRPr>
          </a:p>
        </p:txBody>
      </p:sp>
      <p:sp>
        <p:nvSpPr>
          <p:cNvPr id="22" name="Text 20"/>
          <p:cNvSpPr/>
          <p:nvPr/>
        </p:nvSpPr>
        <p:spPr>
          <a:xfrm>
            <a:off x="8538634" y="1934567"/>
            <a:ext cx="27121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Propios · 12,41 % E.A.</a:t>
            </a:r>
            <a:endParaRPr lang="en-US" sz="1200" dirty="0">
              <a:latin typeface="Nunito Sans" charset="0"/>
              <a:ea typeface="Nunito Sans" charset="0"/>
              <a:cs typeface="Nunito Sans" charset="0"/>
            </a:endParaRPr>
          </a:p>
        </p:txBody>
      </p:sp>
      <p:sp>
        <p:nvSpPr>
          <p:cNvPr id="23" name="Shape 21"/>
          <p:cNvSpPr/>
          <p:nvPr/>
        </p:nvSpPr>
        <p:spPr>
          <a:xfrm>
            <a:off x="8538634" y="2191017"/>
            <a:ext cx="1651000" cy="177800"/>
          </a:xfrm>
          <a:prstGeom prst="roundRect">
            <a:avLst>
              <a:gd name="adj" fmla="val 21429"/>
            </a:avLst>
          </a:prstGeom>
          <a:solidFill>
            <a:srgbClr val="2F5D8A"/>
          </a:solidFill>
          <a:ln/>
        </p:spPr>
      </p:sp>
      <p:sp>
        <p:nvSpPr>
          <p:cNvPr id="24" name="Text 22"/>
          <p:cNvSpPr/>
          <p:nvPr/>
        </p:nvSpPr>
        <p:spPr>
          <a:xfrm>
            <a:off x="10265834" y="2173288"/>
            <a:ext cx="8072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E16"/>
                </a:solidFill>
                <a:latin typeface="Nunito Sans" pitchFamily="34" charset="0"/>
                <a:ea typeface="Nunito Sans" pitchFamily="34" charset="-122"/>
                <a:cs typeface="Nunito Sans" pitchFamily="34" charset="-120"/>
              </a:rPr>
              <a:t>+$3,55 M</a:t>
            </a:r>
            <a:endParaRPr lang="en-US" sz="1200" dirty="0">
              <a:latin typeface="Nunito Sans" charset="0"/>
              <a:ea typeface="Nunito Sans" charset="0"/>
              <a:cs typeface="Nunito Sans" charset="0"/>
            </a:endParaRPr>
          </a:p>
        </p:txBody>
      </p:sp>
      <p:sp>
        <p:nvSpPr>
          <p:cNvPr id="25" name="Text 23"/>
          <p:cNvSpPr/>
          <p:nvPr/>
        </p:nvSpPr>
        <p:spPr>
          <a:xfrm>
            <a:off x="8538634" y="2462808"/>
            <a:ext cx="27121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Germina · 32,90 % E.A.</a:t>
            </a:r>
            <a:endParaRPr lang="en-US" sz="1200" dirty="0">
              <a:latin typeface="Nunito Sans" charset="0"/>
              <a:ea typeface="Nunito Sans" charset="0"/>
              <a:cs typeface="Nunito Sans" charset="0"/>
            </a:endParaRPr>
          </a:p>
        </p:txBody>
      </p:sp>
      <p:sp>
        <p:nvSpPr>
          <p:cNvPr id="26" name="Shape 24"/>
          <p:cNvSpPr/>
          <p:nvPr/>
        </p:nvSpPr>
        <p:spPr>
          <a:xfrm>
            <a:off x="8538634" y="2719257"/>
            <a:ext cx="1066800" cy="177800"/>
          </a:xfrm>
          <a:prstGeom prst="roundRect">
            <a:avLst>
              <a:gd name="adj" fmla="val 21429"/>
            </a:avLst>
          </a:prstGeom>
          <a:solidFill>
            <a:srgbClr val="2F5D8A"/>
          </a:solidFill>
          <a:ln/>
        </p:spPr>
      </p:sp>
      <p:sp>
        <p:nvSpPr>
          <p:cNvPr id="27" name="Text 25"/>
          <p:cNvSpPr/>
          <p:nvPr/>
        </p:nvSpPr>
        <p:spPr>
          <a:xfrm>
            <a:off x="9681634" y="2701528"/>
            <a:ext cx="8072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E16"/>
                </a:solidFill>
                <a:latin typeface="Nunito Sans" pitchFamily="34" charset="0"/>
                <a:ea typeface="Nunito Sans" pitchFamily="34" charset="-122"/>
                <a:cs typeface="Nunito Sans" pitchFamily="34" charset="-120"/>
              </a:rPr>
              <a:t>+$2,29 M</a:t>
            </a:r>
            <a:endParaRPr lang="en-US" sz="1200" dirty="0">
              <a:latin typeface="Nunito Sans" charset="0"/>
              <a:ea typeface="Nunito Sans" charset="0"/>
              <a:cs typeface="Nunito Sans" charset="0"/>
            </a:endParaRPr>
          </a:p>
        </p:txBody>
      </p:sp>
      <p:sp>
        <p:nvSpPr>
          <p:cNvPr id="28" name="Text 26"/>
          <p:cNvSpPr/>
          <p:nvPr/>
        </p:nvSpPr>
        <p:spPr>
          <a:xfrm>
            <a:off x="8538634" y="2991048"/>
            <a:ext cx="27121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Microcrédito · 58,41 % E.A.</a:t>
            </a:r>
            <a:endParaRPr lang="en-US" sz="1200" dirty="0">
              <a:latin typeface="Nunito Sans" charset="0"/>
              <a:ea typeface="Nunito Sans" charset="0"/>
              <a:cs typeface="Nunito Sans" charset="0"/>
            </a:endParaRPr>
          </a:p>
        </p:txBody>
      </p:sp>
      <p:sp>
        <p:nvSpPr>
          <p:cNvPr id="29" name="Shape 27"/>
          <p:cNvSpPr/>
          <p:nvPr/>
        </p:nvSpPr>
        <p:spPr>
          <a:xfrm>
            <a:off x="8538634" y="3247498"/>
            <a:ext cx="577850" cy="177800"/>
          </a:xfrm>
          <a:prstGeom prst="roundRect">
            <a:avLst>
              <a:gd name="adj" fmla="val 21429"/>
            </a:avLst>
          </a:prstGeom>
          <a:solidFill>
            <a:srgbClr val="2F5D8A"/>
          </a:solidFill>
          <a:ln/>
        </p:spPr>
      </p:sp>
      <p:sp>
        <p:nvSpPr>
          <p:cNvPr id="30" name="Text 28"/>
          <p:cNvSpPr/>
          <p:nvPr/>
        </p:nvSpPr>
        <p:spPr>
          <a:xfrm>
            <a:off x="9192684" y="3229769"/>
            <a:ext cx="80724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E16"/>
                </a:solidFill>
                <a:latin typeface="Nunito Sans" pitchFamily="34" charset="0"/>
                <a:ea typeface="Nunito Sans" pitchFamily="34" charset="-122"/>
                <a:cs typeface="Nunito Sans" pitchFamily="34" charset="-120"/>
              </a:rPr>
              <a:t>+$1,24 M</a:t>
            </a:r>
            <a:endParaRPr lang="en-US" sz="1200" dirty="0">
              <a:latin typeface="Nunito Sans" charset="0"/>
              <a:ea typeface="Nunito Sans" charset="0"/>
              <a:cs typeface="Nunito Sans" charset="0"/>
            </a:endParaRPr>
          </a:p>
        </p:txBody>
      </p:sp>
      <p:sp>
        <p:nvSpPr>
          <p:cNvPr id="31" name="Text 29"/>
          <p:cNvSpPr/>
          <p:nvPr/>
        </p:nvSpPr>
        <p:spPr>
          <a:xfrm>
            <a:off x="8538634" y="3519289"/>
            <a:ext cx="271212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5A4A"/>
                </a:solidFill>
                <a:latin typeface="Nunito Sans" pitchFamily="34" charset="0"/>
                <a:ea typeface="Nunito Sans" pitchFamily="34" charset="-122"/>
                <a:cs typeface="Nunito Sans" pitchFamily="34" charset="-120"/>
              </a:rPr>
              <a:t>Con cualquier tasa el VPN sigue positivo.</a:t>
            </a:r>
            <a:endParaRPr lang="en-US" sz="1200" dirty="0">
              <a:latin typeface="Nunito Sans" charset="0"/>
              <a:ea typeface="Nunito Sans" charset="0"/>
              <a:cs typeface="Nunito Sans" charset="0"/>
            </a:endParaRPr>
          </a:p>
        </p:txBody>
      </p:sp>
      <p:sp>
        <p:nvSpPr>
          <p:cNvPr id="32" name="Shape 30"/>
          <p:cNvSpPr/>
          <p:nvPr/>
        </p:nvSpPr>
        <p:spPr>
          <a:xfrm>
            <a:off x="812800" y="4356565"/>
            <a:ext cx="3420533" cy="967647"/>
          </a:xfrm>
          <a:prstGeom prst="roundRect">
            <a:avLst>
              <a:gd name="adj" fmla="val 10500"/>
            </a:avLst>
          </a:prstGeom>
          <a:solidFill>
            <a:srgbClr val="2A1E16"/>
          </a:solidFill>
          <a:ln/>
        </p:spPr>
      </p:sp>
      <p:sp>
        <p:nvSpPr>
          <p:cNvPr id="33" name="Text 31"/>
          <p:cNvSpPr/>
          <p:nvPr/>
        </p:nvSpPr>
        <p:spPr>
          <a:xfrm>
            <a:off x="1016000" y="4508965"/>
            <a:ext cx="310455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A35C"/>
                </a:solidFill>
                <a:latin typeface="Nunito Sans" pitchFamily="34" charset="0"/>
                <a:ea typeface="Nunito Sans" pitchFamily="34" charset="-122"/>
                <a:cs typeface="Nunito Sans" pitchFamily="34" charset="-120"/>
              </a:rPr>
              <a:t>Recomendación</a:t>
            </a:r>
            <a:endParaRPr lang="en-US" sz="1200" dirty="0">
              <a:latin typeface="Nunito Sans" charset="0"/>
              <a:ea typeface="Nunito Sans" charset="0"/>
              <a:cs typeface="Nunito Sans" charset="0"/>
            </a:endParaRPr>
          </a:p>
        </p:txBody>
      </p:sp>
      <p:sp>
        <p:nvSpPr>
          <p:cNvPr id="34" name="Text 32"/>
          <p:cNvSpPr/>
          <p:nvPr/>
        </p:nvSpPr>
        <p:spPr>
          <a:xfrm>
            <a:off x="1016000" y="4760385"/>
            <a:ext cx="310455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6EFE3"/>
                </a:solidFill>
                <a:latin typeface="Nunito Sans" pitchFamily="34" charset="0"/>
                <a:ea typeface="Nunito Sans" pitchFamily="34" charset="-122"/>
                <a:cs typeface="Nunito Sans" pitchFamily="34" charset="-120"/>
              </a:rPr>
              <a:t>Ruta A: sin deuda, sin ceder propiedad y con mentoría.</a:t>
            </a:r>
            <a:endParaRPr lang="en-US" sz="1200" dirty="0">
              <a:latin typeface="Nunito Sans" charset="0"/>
              <a:ea typeface="Nunito Sans" charset="0"/>
              <a:cs typeface="Nunito Sans" charset="0"/>
            </a:endParaRPr>
          </a:p>
        </p:txBody>
      </p:sp>
      <p:sp>
        <p:nvSpPr>
          <p:cNvPr id="35" name="Shape 33"/>
          <p:cNvSpPr/>
          <p:nvPr/>
        </p:nvSpPr>
        <p:spPr>
          <a:xfrm>
            <a:off x="4385733" y="4356565"/>
            <a:ext cx="3420533" cy="967647"/>
          </a:xfrm>
          <a:prstGeom prst="roundRect">
            <a:avLst>
              <a:gd name="adj" fmla="val 10500"/>
            </a:avLst>
          </a:prstGeom>
          <a:solidFill>
            <a:srgbClr val="2A1E16"/>
          </a:solidFill>
          <a:ln/>
        </p:spPr>
      </p:sp>
      <p:sp>
        <p:nvSpPr>
          <p:cNvPr id="36" name="Text 34"/>
          <p:cNvSpPr/>
          <p:nvPr/>
        </p:nvSpPr>
        <p:spPr>
          <a:xfrm>
            <a:off x="4588933" y="4508965"/>
            <a:ext cx="310455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A35C"/>
                </a:solidFill>
                <a:latin typeface="Nunito Sans" pitchFamily="34" charset="0"/>
                <a:ea typeface="Nunito Sans" pitchFamily="34" charset="-122"/>
                <a:cs typeface="Nunito Sans" pitchFamily="34" charset="-120"/>
              </a:rPr>
              <a:t>Descartadas hoy</a:t>
            </a:r>
            <a:endParaRPr lang="en-US" sz="1200" dirty="0">
              <a:latin typeface="Nunito Sans" charset="0"/>
              <a:ea typeface="Nunito Sans" charset="0"/>
              <a:cs typeface="Nunito Sans" charset="0"/>
            </a:endParaRPr>
          </a:p>
        </p:txBody>
      </p:sp>
      <p:sp>
        <p:nvSpPr>
          <p:cNvPr id="37" name="Text 35"/>
          <p:cNvSpPr/>
          <p:nvPr/>
        </p:nvSpPr>
        <p:spPr>
          <a:xfrm>
            <a:off x="4588933" y="4760385"/>
            <a:ext cx="310455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6EFE3"/>
                </a:solidFill>
                <a:latin typeface="Nunito Sans" pitchFamily="34" charset="0"/>
                <a:ea typeface="Nunito Sans" pitchFamily="34" charset="-122"/>
                <a:cs typeface="Nunito Sans" pitchFamily="34" charset="-120"/>
              </a:rPr>
              <a:t>Convocatorias cerradas al corte; aceleradoras piden USD 1 M de ventas.</a:t>
            </a:r>
            <a:endParaRPr lang="en-US" sz="1200" dirty="0">
              <a:latin typeface="Nunito Sans" charset="0"/>
              <a:ea typeface="Nunito Sans" charset="0"/>
              <a:cs typeface="Nunito Sans" charset="0"/>
            </a:endParaRPr>
          </a:p>
        </p:txBody>
      </p:sp>
      <p:sp>
        <p:nvSpPr>
          <p:cNvPr id="38" name="Shape 36"/>
          <p:cNvSpPr/>
          <p:nvPr/>
        </p:nvSpPr>
        <p:spPr>
          <a:xfrm>
            <a:off x="7958667" y="4356565"/>
            <a:ext cx="3420533" cy="967647"/>
          </a:xfrm>
          <a:prstGeom prst="roundRect">
            <a:avLst>
              <a:gd name="adj" fmla="val 10500"/>
            </a:avLst>
          </a:prstGeom>
          <a:solidFill>
            <a:srgbClr val="2A1E16"/>
          </a:solidFill>
          <a:ln/>
        </p:spPr>
      </p:sp>
      <p:sp>
        <p:nvSpPr>
          <p:cNvPr id="39" name="Text 37"/>
          <p:cNvSpPr/>
          <p:nvPr/>
        </p:nvSpPr>
        <p:spPr>
          <a:xfrm>
            <a:off x="8161867" y="4508965"/>
            <a:ext cx="310455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A35C"/>
                </a:solidFill>
                <a:latin typeface="Nunito Sans" pitchFamily="34" charset="0"/>
                <a:ea typeface="Nunito Sans" pitchFamily="34" charset="-122"/>
                <a:cs typeface="Nunito Sans" pitchFamily="34" charset="-120"/>
              </a:rPr>
              <a:t>Hoja de ruta</a:t>
            </a:r>
            <a:endParaRPr lang="en-US" sz="1200" dirty="0">
              <a:latin typeface="Nunito Sans" charset="0"/>
              <a:ea typeface="Nunito Sans" charset="0"/>
              <a:cs typeface="Nunito Sans" charset="0"/>
            </a:endParaRPr>
          </a:p>
        </p:txBody>
      </p:sp>
      <p:sp>
        <p:nvSpPr>
          <p:cNvPr id="40" name="Text 38"/>
          <p:cNvSpPr/>
          <p:nvPr/>
        </p:nvSpPr>
        <p:spPr>
          <a:xfrm>
            <a:off x="8161867" y="4760385"/>
            <a:ext cx="310455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6EFE3"/>
                </a:solidFill>
                <a:latin typeface="Nunito Sans" pitchFamily="34" charset="0"/>
                <a:ea typeface="Nunito Sans" pitchFamily="34" charset="-122"/>
                <a:cs typeface="Nunito Sans" pitchFamily="34" charset="-120"/>
              </a:rPr>
              <a:t>Hoy, horas propias · 2027-1, Cantera y Fondo Emprender · 2027-2, comercial.</a:t>
            </a:r>
            <a:endParaRPr lang="en-US" sz="1200" dirty="0">
              <a:latin typeface="Nunito Sans" charset="0"/>
              <a:ea typeface="Nunito Sans" charset="0"/>
              <a:cs typeface="Nunito Sans" charset="0"/>
            </a:endParaRPr>
          </a:p>
        </p:txBody>
      </p:sp>
      <p:sp>
        <p:nvSpPr>
          <p:cNvPr id="41" name="Text 39"/>
          <p:cNvSpPr/>
          <p:nvPr/>
        </p:nvSpPr>
        <p:spPr>
          <a:xfrm>
            <a:off x="812800" y="6238280"/>
            <a:ext cx="60721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A4A"/>
                </a:solidFill>
                <a:latin typeface="Nunito Sans" pitchFamily="34" charset="0"/>
                <a:ea typeface="Nunito Sans" pitchFamily="34" charset="-122"/>
                <a:cs typeface="Nunito Sans" pitchFamily="34" charset="-120"/>
              </a:rPr>
              <a:t>Panadería San Nicolás · Segunda entrega · Corte al 29 de octubre de 2026</a:t>
            </a:r>
            <a:endParaRPr lang="en-US" sz="1200" dirty="0">
              <a:latin typeface="Nunito Sans" charset="0"/>
              <a:ea typeface="Nunito Sans" charset="0"/>
              <a:cs typeface="Nunito Sans" charset="0"/>
            </a:endParaRPr>
          </a:p>
        </p:txBody>
      </p:sp>
      <p:sp>
        <p:nvSpPr>
          <p:cNvPr id="42" name="Text 40"/>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A4A"/>
                </a:solidFill>
                <a:latin typeface="Nunito Sans" pitchFamily="34" charset="0"/>
                <a:ea typeface="Nunito Sans" pitchFamily="34" charset="-122"/>
                <a:cs typeface="Nunito Sans" pitchFamily="34" charset="-120"/>
              </a:rPr>
              <a:t>5</a:t>
            </a:r>
            <a:endParaRPr lang="en-US" sz="1200" dirty="0">
              <a:latin typeface="Nunito Sans" charset="0"/>
              <a:ea typeface="Nunito Sans" charset="0"/>
              <a:cs typeface="Nunito Sans"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2D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E16"/>
                </a:solidFill>
                <a:latin typeface="Domine" pitchFamily="18" charset="0"/>
                <a:ea typeface="Domine" pitchFamily="18" charset="-122"/>
                <a:cs typeface="Domine" pitchFamily="18" charset="-120"/>
              </a:rPr>
              <a:t>Ejecución: planeado frente a ejecutado</a:t>
            </a:r>
            <a:endParaRPr lang="en-US" sz="3200" dirty="0">
              <a:latin typeface="Domine" charset="0"/>
              <a:ea typeface="Domine" charset="0"/>
              <a:cs typeface="Domine" charset="0"/>
            </a:endParaRPr>
          </a:p>
        </p:txBody>
      </p:sp>
      <p:sp>
        <p:nvSpPr>
          <p:cNvPr id="3" name="Shape 1"/>
          <p:cNvSpPr/>
          <p:nvPr/>
        </p:nvSpPr>
        <p:spPr>
          <a:xfrm>
            <a:off x="812800" y="1564615"/>
            <a:ext cx="7467600" cy="2156222"/>
          </a:xfrm>
          <a:prstGeom prst="roundRect">
            <a:avLst>
              <a:gd name="adj" fmla="val 4712"/>
            </a:avLst>
          </a:prstGeom>
          <a:solidFill>
            <a:srgbClr val="FFFAF2"/>
          </a:solidFill>
          <a:ln/>
        </p:spPr>
      </p:sp>
      <p:sp>
        <p:nvSpPr>
          <p:cNvPr id="4" name="Shape 2"/>
          <p:cNvSpPr/>
          <p:nvPr/>
        </p:nvSpPr>
        <p:spPr>
          <a:xfrm>
            <a:off x="812800" y="1564615"/>
            <a:ext cx="7467600" cy="2156222"/>
          </a:xfrm>
          <a:custGeom>
            <a:avLst/>
            <a:gdLst/>
            <a:ahLst/>
            <a:cxnLst/>
            <a:rect l="l" t="t" r="r" b="b"/>
            <a:pathLst>
              <a:path w="7467600" h="2156222">
                <a:moveTo>
                  <a:pt x="101600" y="2156222"/>
                </a:moveTo>
                <a:lnTo>
                  <a:pt x="101600" y="2156222"/>
                </a:lnTo>
                <a:arcTo hR="101600" wR="101600" stAng="5400000" swAng="5400000"/>
                <a:lnTo>
                  <a:pt x="0" y="101600"/>
                </a:lnTo>
                <a:arcTo hR="101600" wR="101600" stAng="10800000" swAng="5400000"/>
                <a:lnTo>
                  <a:pt x="7366000" y="0"/>
                </a:lnTo>
                <a:arcTo hR="101600" wR="101600" stAng="16200000" swAng="5400000"/>
                <a:lnTo>
                  <a:pt x="7467600" y="101600"/>
                </a:lnTo>
                <a:arcTo hR="88900" wR="101600" stAng="0" swAng="-5400000"/>
                <a:lnTo>
                  <a:pt x="101600" y="12700"/>
                </a:lnTo>
                <a:arcTo hR="88900" wR="88900" stAng="16200000" swAng="-5400000"/>
                <a:lnTo>
                  <a:pt x="12700" y="2054622"/>
                </a:lnTo>
                <a:arcTo hR="101600" wR="88900" stAng="10800000" swAng="-5400000"/>
                <a:close/>
              </a:path>
            </a:pathLst>
          </a:custGeom>
          <a:solidFill>
            <a:srgbClr val="141413">
              <a:alpha val="22000"/>
            </a:srgbClr>
          </a:solidFill>
          <a:ln/>
        </p:spPr>
      </p:sp>
      <p:sp>
        <p:nvSpPr>
          <p:cNvPr id="5" name="Shape 3"/>
          <p:cNvSpPr/>
          <p:nvPr/>
        </p:nvSpPr>
        <p:spPr>
          <a:xfrm>
            <a:off x="825500" y="1577315"/>
            <a:ext cx="7454900" cy="429220"/>
          </a:xfrm>
          <a:custGeom>
            <a:avLst/>
            <a:gdLst/>
            <a:ahLst/>
            <a:cxnLst/>
            <a:rect l="l" t="t" r="r" b="b"/>
            <a:pathLst>
              <a:path w="7454900" h="429220">
                <a:moveTo>
                  <a:pt x="0" y="88900"/>
                </a:moveTo>
                <a:arcTo hR="88900" wR="88900" stAng="10800000" swAng="5400000"/>
                <a:lnTo>
                  <a:pt x="7353300" y="0"/>
                </a:lnTo>
                <a:arcTo hR="101600" wR="101600" stAng="16200000" swAng="5400000"/>
                <a:lnTo>
                  <a:pt x="7454900" y="429220"/>
                </a:lnTo>
                <a:lnTo>
                  <a:pt x="0" y="429220"/>
                </a:lnTo>
                <a:close/>
              </a:path>
            </a:pathLst>
          </a:custGeom>
          <a:solidFill>
            <a:srgbClr val="ECE8E0"/>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577315"/>
          <a:ext cx="7454900" cy="2143522"/>
        </p:xfrm>
        <a:graphic>
          <a:graphicData uri="http://schemas.openxmlformats.org/drawingml/2006/table">
            <a:tbl>
              <a:tblPr/>
              <a:tblGrid>
                <a:gridCol w="1863725"/>
                <a:gridCol w="1863725"/>
                <a:gridCol w="1863725"/>
                <a:gridCol w="1863725"/>
              </a:tblGrid>
              <a:tr h="429220">
                <a:tc>
                  <a:txBody>
                    <a:bodyPr/>
                    <a:lstStyle/>
                    <a:p>
                      <a:pPr indent="0" marL="0">
                        <a:lnSpc>
                          <a:spcPts val="1680"/>
                        </a:lnSpc>
                        <a:buNone/>
                      </a:pPr>
                      <a:r>
                        <a:rPr lang="en-US" sz="1200" b="1" dirty="0">
                          <a:solidFill>
                            <a:srgbClr val="2A1E16"/>
                          </a:solidFill>
                          <a:latin typeface="Nunito Sans" pitchFamily="34" charset="0"/>
                          <a:ea typeface="Nunito Sans" pitchFamily="34" charset="-122"/>
                          <a:cs typeface="Nunito Sans" pitchFamily="34" charset="-120"/>
                        </a:rPr>
                        <a:t>Sprint</a:t>
                      </a:r>
                      <a:endParaRPr lang="en-US" sz="1200" dirty="0">
                        <a:latin typeface="Nunito Sans" charset="0"/>
                        <a:ea typeface="Nunito Sans" charset="0"/>
                        <a:cs typeface="Nunito Sans" charset="0"/>
                      </a:endParaRPr>
                    </a:p>
                  </a:txBody>
                  <a:tcPr marL="127000" marR="127000" marT="101600" marB="101600" anchor="t">
                    <a:lnL w="0" cap="flat" cmpd="sng" algn="ctr">
                      <a:noFill/>
                    </a:lnL>
                    <a:lnR w="12700" cap="flat" cmpd="sng" algn="ctr">
                      <a:solidFill>
                        <a:srgbClr val="BCB9B3"/>
                      </a:solidFill>
                      <a:prstDash val="solid"/>
                      <a:round/>
                      <a:headEnd type="none" w="med" len="med"/>
                      <a:tailEnd type="none" w="med" len="med"/>
                    </a:lnR>
                    <a:lnT w="0" cap="flat" cmpd="sng" algn="ctr">
                      <a:noFill/>
                    </a:lnT>
                    <a:lnB w="12700" cap="flat" cmpd="sng" algn="ctr">
                      <a:solidFill>
                        <a:srgbClr val="BCB9B3"/>
                      </a:solidFill>
                      <a:prstDash val="solid"/>
                      <a:round/>
                      <a:headEnd type="none" w="med" len="med"/>
                      <a:tailEnd type="none" w="med" len="med"/>
                    </a:lnB>
                  </a:tcPr>
                </a:tc>
                <a:tc>
                  <a:txBody>
                    <a:bodyPr/>
                    <a:lstStyle/>
                    <a:p>
                      <a:pPr indent="0" marL="0">
                        <a:lnSpc>
                          <a:spcPts val="1680"/>
                        </a:lnSpc>
                        <a:buNone/>
                      </a:pPr>
                      <a:r>
                        <a:rPr lang="en-US" sz="1200" b="1" dirty="0">
                          <a:solidFill>
                            <a:srgbClr val="2A1E16"/>
                          </a:solidFill>
                          <a:latin typeface="Nunito Sans" pitchFamily="34" charset="0"/>
                          <a:ea typeface="Nunito Sans" pitchFamily="34" charset="-122"/>
                          <a:cs typeface="Nunito Sans" pitchFamily="34" charset="-120"/>
                        </a:rPr>
                        <a:t>Planeado</a:t>
                      </a:r>
                      <a:endParaRPr lang="en-US" sz="1200" dirty="0">
                        <a:latin typeface="Nunito Sans" charset="0"/>
                        <a:ea typeface="Nunito Sans" charset="0"/>
                        <a:cs typeface="Nunito Sans" charset="0"/>
                      </a:endParaRPr>
                    </a:p>
                  </a:txBody>
                  <a:tcPr marL="127000" marR="127000" marT="101600" marB="10160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0" cap="flat" cmpd="sng" algn="ctr">
                      <a:noFill/>
                    </a:lnT>
                    <a:lnB w="12700" cap="flat" cmpd="sng" algn="ctr">
                      <a:solidFill>
                        <a:srgbClr val="BCB9B3"/>
                      </a:solidFill>
                      <a:prstDash val="solid"/>
                      <a:round/>
                      <a:headEnd type="none" w="med" len="med"/>
                      <a:tailEnd type="none" w="med" len="med"/>
                    </a:lnB>
                  </a:tcPr>
                </a:tc>
                <a:tc>
                  <a:txBody>
                    <a:bodyPr/>
                    <a:lstStyle/>
                    <a:p>
                      <a:pPr indent="0" marL="0">
                        <a:lnSpc>
                          <a:spcPts val="1680"/>
                        </a:lnSpc>
                        <a:buNone/>
                      </a:pPr>
                      <a:r>
                        <a:rPr lang="en-US" sz="1200" b="1" dirty="0">
                          <a:solidFill>
                            <a:srgbClr val="2A1E16"/>
                          </a:solidFill>
                          <a:latin typeface="Nunito Sans" pitchFamily="34" charset="0"/>
                          <a:ea typeface="Nunito Sans" pitchFamily="34" charset="-122"/>
                          <a:cs typeface="Nunito Sans" pitchFamily="34" charset="-120"/>
                        </a:rPr>
                        <a:t>Ejecutado</a:t>
                      </a:r>
                      <a:endParaRPr lang="en-US" sz="1200" dirty="0">
                        <a:latin typeface="Nunito Sans" charset="0"/>
                        <a:ea typeface="Nunito Sans" charset="0"/>
                        <a:cs typeface="Nunito Sans" charset="0"/>
                      </a:endParaRPr>
                    </a:p>
                  </a:txBody>
                  <a:tcPr marL="127000" marR="127000" marT="101600" marB="10160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0" cap="flat" cmpd="sng" algn="ctr">
                      <a:noFill/>
                    </a:lnT>
                    <a:lnB w="12700" cap="flat" cmpd="sng" algn="ctr">
                      <a:solidFill>
                        <a:srgbClr val="BCB9B3"/>
                      </a:solidFill>
                      <a:prstDash val="solid"/>
                      <a:round/>
                      <a:headEnd type="none" w="med" len="med"/>
                      <a:tailEnd type="none" w="med" len="med"/>
                    </a:lnB>
                  </a:tcPr>
                </a:tc>
                <a:tc>
                  <a:txBody>
                    <a:bodyPr/>
                    <a:lstStyle/>
                    <a:p>
                      <a:pPr indent="0" marL="0">
                        <a:lnSpc>
                          <a:spcPts val="1680"/>
                        </a:lnSpc>
                        <a:buNone/>
                      </a:pPr>
                      <a:r>
                        <a:rPr lang="en-US" sz="1200" b="1" dirty="0">
                          <a:solidFill>
                            <a:srgbClr val="2A1E16"/>
                          </a:solidFill>
                          <a:latin typeface="Nunito Sans" pitchFamily="34" charset="0"/>
                          <a:ea typeface="Nunito Sans" pitchFamily="34" charset="-122"/>
                          <a:cs typeface="Nunito Sans" pitchFamily="34" charset="-120"/>
                        </a:rPr>
                        <a:t>Cambio</a:t>
                      </a:r>
                      <a:endParaRPr lang="en-US" sz="1200" dirty="0">
                        <a:latin typeface="Nunito Sans" charset="0"/>
                        <a:ea typeface="Nunito Sans" charset="0"/>
                        <a:cs typeface="Nunito Sans" charset="0"/>
                      </a:endParaRPr>
                    </a:p>
                  </a:txBody>
                  <a:tcPr marL="127000" marR="127000" marT="101600" marB="101600" anchor="t">
                    <a:lnL w="12700" cap="flat" cmpd="sng" algn="ctr">
                      <a:solidFill>
                        <a:srgbClr val="BCB9B3"/>
                      </a:solidFill>
                      <a:prstDash val="solid"/>
                      <a:round/>
                      <a:headEnd type="none" w="med" len="med"/>
                      <a:tailEnd type="none" w="med" len="med"/>
                    </a:lnL>
                    <a:lnR w="12700" cap="flat" cmpd="sng" algn="ctr">
                      <a:solidFill>
                        <a:srgbClr val="BCB9B3"/>
                      </a:solidFill>
                      <a:prstDash val="solid"/>
                      <a:round/>
                      <a:headEnd type="none" w="med" len="med"/>
                      <a:tailEnd type="none" w="med" len="med"/>
                    </a:lnR>
                    <a:lnT w="0" cap="flat" cmpd="sng" algn="ctr">
                      <a:noFill/>
                    </a:lnT>
                    <a:lnB w="12700" cap="flat" cmpd="sng" algn="ctr">
                      <a:solidFill>
                        <a:srgbClr val="BCB9B3"/>
                      </a:solidFill>
                      <a:prstDash val="solid"/>
                      <a:round/>
                      <a:headEnd type="none" w="med" len="med"/>
                      <a:tailEnd type="none" w="med" len="med"/>
                    </a:lnB>
                  </a:tcPr>
                </a:tc>
              </a:tr>
              <a:tr h="642541">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0 · Corrección 1.ª entrega</a:t>
                      </a:r>
                      <a:endParaRPr lang="en-US" sz="1200" dirty="0">
                        <a:latin typeface="Nunito Sans" charset="0"/>
                        <a:ea typeface="Nunito Sans" charset="0"/>
                        <a:cs typeface="Nunito Sans" charset="0"/>
                      </a:endParaRPr>
                    </a:p>
                  </a:txBody>
                  <a:tcPr marL="127000" marR="127000" marT="101600" marB="101600" anchor="t">
                    <a:lnL w="0" cap="flat" cmpd="sng" algn="ctr">
                      <a:noFill/>
                    </a:lnL>
                    <a:lnR w="12700" cap="flat" cmpd="sng" algn="ctr">
                      <a:solidFill>
                        <a:srgbClr val="CBC7C1"/>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BC7C1"/>
                      </a:solidFill>
                      <a:prstDash val="solid"/>
                      <a:round/>
                      <a:headEnd type="none" w="med" len="med"/>
                      <a:tailEnd type="none" w="med" len="med"/>
                    </a:lnB>
                  </a:tcPr>
                </a:tc>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24 – 25 oct</a:t>
                      </a:r>
                      <a:endParaRPr lang="en-US" sz="1200" dirty="0">
                        <a:latin typeface="Nunito Sans" charset="0"/>
                        <a:ea typeface="Nunito Sans" charset="0"/>
                        <a:cs typeface="Nunito Sans" charset="0"/>
                      </a:endParaRPr>
                    </a:p>
                  </a:txBody>
                  <a:tcPr marL="127000" marR="127000" marT="101600" marB="101600" anchor="t">
                    <a:lnL w="12700" cap="flat" cmpd="sng" algn="ctr">
                      <a:solidFill>
                        <a:srgbClr val="CBC7C1"/>
                      </a:solidFill>
                      <a:prstDash val="solid"/>
                      <a:round/>
                      <a:headEnd type="none" w="med" len="med"/>
                      <a:tailEnd type="none" w="med" len="med"/>
                    </a:lnL>
                    <a:lnR w="12700" cap="flat" cmpd="sng" algn="ctr">
                      <a:solidFill>
                        <a:srgbClr val="CBC7C1"/>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BC7C1"/>
                      </a:solidFill>
                      <a:prstDash val="solid"/>
                      <a:round/>
                      <a:headEnd type="none" w="med" len="med"/>
                      <a:tailEnd type="none" w="med" len="med"/>
                    </a:lnB>
                  </a:tcPr>
                </a:tc>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24 – 25 oct</a:t>
                      </a:r>
                      <a:endParaRPr lang="en-US" sz="1200" dirty="0">
                        <a:latin typeface="Nunito Sans" charset="0"/>
                        <a:ea typeface="Nunito Sans" charset="0"/>
                        <a:cs typeface="Nunito Sans" charset="0"/>
                      </a:endParaRPr>
                    </a:p>
                  </a:txBody>
                  <a:tcPr marL="127000" marR="127000" marT="101600" marB="101600" anchor="t">
                    <a:lnL w="12700" cap="flat" cmpd="sng" algn="ctr">
                      <a:solidFill>
                        <a:srgbClr val="CBC7C1"/>
                      </a:solidFill>
                      <a:prstDash val="solid"/>
                      <a:round/>
                      <a:headEnd type="none" w="med" len="med"/>
                      <a:tailEnd type="none" w="med" len="med"/>
                    </a:lnL>
                    <a:lnR w="12700" cap="flat" cmpd="sng" algn="ctr">
                      <a:solidFill>
                        <a:srgbClr val="CBC7C1"/>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BC7C1"/>
                      </a:solidFill>
                      <a:prstDash val="solid"/>
                      <a:round/>
                      <a:headEnd type="none" w="med" len="med"/>
                      <a:tailEnd type="none" w="med" len="med"/>
                    </a:lnB>
                  </a:tcPr>
                </a:tc>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Sin cambio</a:t>
                      </a:r>
                      <a:endParaRPr lang="en-US" sz="1200" dirty="0">
                        <a:latin typeface="Nunito Sans" charset="0"/>
                        <a:ea typeface="Nunito Sans" charset="0"/>
                        <a:cs typeface="Nunito Sans" charset="0"/>
                      </a:endParaRPr>
                    </a:p>
                  </a:txBody>
                  <a:tcPr marL="127000" marR="127000" marT="101600" marB="101600" anchor="t">
                    <a:lnL w="12700" cap="flat" cmpd="sng" algn="ctr">
                      <a:solidFill>
                        <a:srgbClr val="CBC7C1"/>
                      </a:solidFill>
                      <a:prstDash val="solid"/>
                      <a:round/>
                      <a:headEnd type="none" w="med" len="med"/>
                      <a:tailEnd type="none" w="med" len="med"/>
                    </a:lnL>
                    <a:lnR w="12700" cap="flat" cmpd="sng" algn="ctr">
                      <a:solidFill>
                        <a:srgbClr val="CBC7C1"/>
                      </a:solidFill>
                      <a:prstDash val="solid"/>
                      <a:round/>
                      <a:headEnd type="none" w="med" len="med"/>
                      <a:tailEnd type="none" w="med" len="med"/>
                    </a:lnR>
                    <a:lnT w="12700" cap="flat" cmpd="sng" algn="ctr">
                      <a:solidFill>
                        <a:srgbClr val="BCB9B3"/>
                      </a:solidFill>
                      <a:prstDash val="solid"/>
                      <a:round/>
                      <a:headEnd type="none" w="med" len="med"/>
                      <a:tailEnd type="none" w="med" len="med"/>
                    </a:lnT>
                    <a:lnB w="12700" cap="flat" cmpd="sng" algn="ctr">
                      <a:solidFill>
                        <a:srgbClr val="CBC7C1"/>
                      </a:solidFill>
                      <a:prstDash val="solid"/>
                      <a:round/>
                      <a:headEnd type="none" w="med" len="med"/>
                      <a:tailEnd type="none" w="med" len="med"/>
                    </a:lnB>
                  </a:tcPr>
                </a:tc>
              </a:tr>
              <a:tr h="642541">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1 · Negocio y prototipo v0</a:t>
                      </a:r>
                      <a:endParaRPr lang="en-US" sz="1200" dirty="0">
                        <a:latin typeface="Nunito Sans" charset="0"/>
                        <a:ea typeface="Nunito Sans" charset="0"/>
                        <a:cs typeface="Nunito Sans" charset="0"/>
                      </a:endParaRPr>
                    </a:p>
                  </a:txBody>
                  <a:tcPr marL="127000" marR="127000" marT="101600" marB="101600" anchor="t">
                    <a:lnL w="0" cap="flat" cmpd="sng" algn="ctr">
                      <a:noFill/>
                    </a:lnL>
                    <a:lnR w="12700" cap="flat" cmpd="sng" algn="ctr">
                      <a:solidFill>
                        <a:srgbClr val="CBC7C1"/>
                      </a:solidFill>
                      <a:prstDash val="solid"/>
                      <a:round/>
                      <a:headEnd type="none" w="med" len="med"/>
                      <a:tailEnd type="none" w="med" len="med"/>
                    </a:lnR>
                    <a:lnT w="12700" cap="flat" cmpd="sng" algn="ctr">
                      <a:solidFill>
                        <a:srgbClr val="CBC7C1"/>
                      </a:solidFill>
                      <a:prstDash val="solid"/>
                      <a:round/>
                      <a:headEnd type="none" w="med" len="med"/>
                      <a:tailEnd type="none" w="med" len="med"/>
                    </a:lnT>
                    <a:lnB w="12700" cap="flat" cmpd="sng" algn="ctr">
                      <a:solidFill>
                        <a:srgbClr val="CBC7C1"/>
                      </a:solidFill>
                      <a:prstDash val="solid"/>
                      <a:round/>
                      <a:headEnd type="none" w="med" len="med"/>
                      <a:tailEnd type="none" w="med" len="med"/>
                    </a:lnB>
                  </a:tcPr>
                </a:tc>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26 – 27 oct</a:t>
                      </a:r>
                      <a:endParaRPr lang="en-US" sz="1200" dirty="0">
                        <a:latin typeface="Nunito Sans" charset="0"/>
                        <a:ea typeface="Nunito Sans" charset="0"/>
                        <a:cs typeface="Nunito Sans" charset="0"/>
                      </a:endParaRPr>
                    </a:p>
                  </a:txBody>
                  <a:tcPr marL="127000" marR="127000" marT="101600" marB="101600" anchor="t">
                    <a:lnL w="12700" cap="flat" cmpd="sng" algn="ctr">
                      <a:solidFill>
                        <a:srgbClr val="CBC7C1"/>
                      </a:solidFill>
                      <a:prstDash val="solid"/>
                      <a:round/>
                      <a:headEnd type="none" w="med" len="med"/>
                      <a:tailEnd type="none" w="med" len="med"/>
                    </a:lnL>
                    <a:lnR w="12700" cap="flat" cmpd="sng" algn="ctr">
                      <a:solidFill>
                        <a:srgbClr val="CBC7C1"/>
                      </a:solidFill>
                      <a:prstDash val="solid"/>
                      <a:round/>
                      <a:headEnd type="none" w="med" len="med"/>
                      <a:tailEnd type="none" w="med" len="med"/>
                    </a:lnR>
                    <a:lnT w="12700" cap="flat" cmpd="sng" algn="ctr">
                      <a:solidFill>
                        <a:srgbClr val="CBC7C1"/>
                      </a:solidFill>
                      <a:prstDash val="solid"/>
                      <a:round/>
                      <a:headEnd type="none" w="med" len="med"/>
                      <a:tailEnd type="none" w="med" len="med"/>
                    </a:lnT>
                    <a:lnB w="12700" cap="flat" cmpd="sng" algn="ctr">
                      <a:solidFill>
                        <a:srgbClr val="CBC7C1"/>
                      </a:solidFill>
                      <a:prstDash val="solid"/>
                      <a:round/>
                      <a:headEnd type="none" w="med" len="med"/>
                      <a:tailEnd type="none" w="med" len="med"/>
                    </a:lnB>
                  </a:tcPr>
                </a:tc>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26 – 29 oct</a:t>
                      </a:r>
                      <a:endParaRPr lang="en-US" sz="1200" dirty="0">
                        <a:latin typeface="Nunito Sans" charset="0"/>
                        <a:ea typeface="Nunito Sans" charset="0"/>
                        <a:cs typeface="Nunito Sans" charset="0"/>
                      </a:endParaRPr>
                    </a:p>
                  </a:txBody>
                  <a:tcPr marL="127000" marR="127000" marT="101600" marB="101600" anchor="t">
                    <a:lnL w="12700" cap="flat" cmpd="sng" algn="ctr">
                      <a:solidFill>
                        <a:srgbClr val="CBC7C1"/>
                      </a:solidFill>
                      <a:prstDash val="solid"/>
                      <a:round/>
                      <a:headEnd type="none" w="med" len="med"/>
                      <a:tailEnd type="none" w="med" len="med"/>
                    </a:lnL>
                    <a:lnR w="12700" cap="flat" cmpd="sng" algn="ctr">
                      <a:solidFill>
                        <a:srgbClr val="CBC7C1"/>
                      </a:solidFill>
                      <a:prstDash val="solid"/>
                      <a:round/>
                      <a:headEnd type="none" w="med" len="med"/>
                      <a:tailEnd type="none" w="med" len="med"/>
                    </a:lnR>
                    <a:lnT w="12700" cap="flat" cmpd="sng" algn="ctr">
                      <a:solidFill>
                        <a:srgbClr val="CBC7C1"/>
                      </a:solidFill>
                      <a:prstDash val="solid"/>
                      <a:round/>
                      <a:headEnd type="none" w="med" len="med"/>
                      <a:tailEnd type="none" w="med" len="med"/>
                    </a:lnT>
                    <a:lnB w="12700" cap="flat" cmpd="sng" algn="ctr">
                      <a:solidFill>
                        <a:srgbClr val="CBC7C1"/>
                      </a:solidFill>
                      <a:prstDash val="solid"/>
                      <a:round/>
                      <a:headEnd type="none" w="med" len="med"/>
                      <a:tailEnd type="none" w="med" len="med"/>
                    </a:lnB>
                  </a:tcPr>
                </a:tc>
                <a:tc>
                  <a:txBody>
                    <a:bodyPr/>
                    <a:lstStyle/>
                    <a:p>
                      <a:pPr indent="0" marL="0">
                        <a:lnSpc>
                          <a:spcPts val="1680"/>
                        </a:lnSpc>
                        <a:buNone/>
                      </a:pPr>
                      <a:r>
                        <a:rPr lang="en-US" sz="1200" dirty="0">
                          <a:solidFill>
                            <a:srgbClr val="B45309"/>
                          </a:solidFill>
                          <a:latin typeface="Nunito Sans" pitchFamily="34" charset="0"/>
                          <a:ea typeface="Nunito Sans" pitchFamily="34" charset="-122"/>
                          <a:cs typeface="Nunito Sans" pitchFamily="34" charset="-120"/>
                        </a:rPr>
                        <a:t>+2 días</a:t>
                      </a:r>
                      <a:endParaRPr lang="en-US" sz="1200" dirty="0">
                        <a:latin typeface="Nunito Sans" charset="0"/>
                        <a:ea typeface="Nunito Sans" charset="0"/>
                        <a:cs typeface="Nunito Sans" charset="0"/>
                      </a:endParaRPr>
                    </a:p>
                  </a:txBody>
                  <a:tcPr marL="127000" marR="127000" marT="101600" marB="101600" anchor="t">
                    <a:lnL w="12700" cap="flat" cmpd="sng" algn="ctr">
                      <a:solidFill>
                        <a:srgbClr val="CBC7C1"/>
                      </a:solidFill>
                      <a:prstDash val="solid"/>
                      <a:round/>
                      <a:headEnd type="none" w="med" len="med"/>
                      <a:tailEnd type="none" w="med" len="med"/>
                    </a:lnL>
                    <a:lnR w="12700" cap="flat" cmpd="sng" algn="ctr">
                      <a:solidFill>
                        <a:srgbClr val="CBC7C1"/>
                      </a:solidFill>
                      <a:prstDash val="solid"/>
                      <a:round/>
                      <a:headEnd type="none" w="med" len="med"/>
                      <a:tailEnd type="none" w="med" len="med"/>
                    </a:lnR>
                    <a:lnT w="12700" cap="flat" cmpd="sng" algn="ctr">
                      <a:solidFill>
                        <a:srgbClr val="CBC7C1"/>
                      </a:solidFill>
                      <a:prstDash val="solid"/>
                      <a:round/>
                      <a:headEnd type="none" w="med" len="med"/>
                      <a:tailEnd type="none" w="med" len="med"/>
                    </a:lnT>
                    <a:lnB w="12700" cap="flat" cmpd="sng" algn="ctr">
                      <a:solidFill>
                        <a:srgbClr val="CBC7C1"/>
                      </a:solidFill>
                      <a:prstDash val="solid"/>
                      <a:round/>
                      <a:headEnd type="none" w="med" len="med"/>
                      <a:tailEnd type="none" w="med" len="med"/>
                    </a:lnB>
                  </a:tcPr>
                </a:tc>
              </a:tr>
              <a:tr h="429220">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2 · App final y cierre</a:t>
                      </a:r>
                      <a:endParaRPr lang="en-US" sz="1200" dirty="0">
                        <a:latin typeface="Nunito Sans" charset="0"/>
                        <a:ea typeface="Nunito Sans" charset="0"/>
                        <a:cs typeface="Nunito Sans" charset="0"/>
                      </a:endParaRPr>
                    </a:p>
                  </a:txBody>
                  <a:tcPr marL="127000" marR="127000" marT="101600" marB="101600" anchor="t">
                    <a:lnL w="0" cap="flat" cmpd="sng" algn="ctr">
                      <a:noFill/>
                    </a:lnL>
                    <a:lnR w="12700" cap="flat" cmpd="sng" algn="ctr">
                      <a:solidFill>
                        <a:srgbClr val="CBC7C1"/>
                      </a:solidFill>
                      <a:prstDash val="solid"/>
                      <a:round/>
                      <a:headEnd type="none" w="med" len="med"/>
                      <a:tailEnd type="none" w="med" len="med"/>
                    </a:lnR>
                    <a:lnT w="12700" cap="flat" cmpd="sng" algn="ctr">
                      <a:solidFill>
                        <a:srgbClr val="CBC7C1"/>
                      </a:solidFill>
                      <a:prstDash val="solid"/>
                      <a:round/>
                      <a:headEnd type="none" w="med" len="med"/>
                      <a:tailEnd type="none" w="med" len="med"/>
                    </a:lnT>
                    <a:lnB w="12700" cap="flat" cmpd="sng" algn="ctr">
                      <a:solidFill>
                        <a:srgbClr val="CBC7C1"/>
                      </a:solidFill>
                      <a:prstDash val="solid"/>
                      <a:round/>
                      <a:headEnd type="none" w="med" len="med"/>
                      <a:tailEnd type="none" w="med" len="med"/>
                    </a:lnB>
                  </a:tcPr>
                </a:tc>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28 – 29 oct</a:t>
                      </a:r>
                      <a:endParaRPr lang="en-US" sz="1200" dirty="0">
                        <a:latin typeface="Nunito Sans" charset="0"/>
                        <a:ea typeface="Nunito Sans" charset="0"/>
                        <a:cs typeface="Nunito Sans" charset="0"/>
                      </a:endParaRPr>
                    </a:p>
                  </a:txBody>
                  <a:tcPr marL="127000" marR="127000" marT="101600" marB="101600" anchor="t">
                    <a:lnL w="12700" cap="flat" cmpd="sng" algn="ctr">
                      <a:solidFill>
                        <a:srgbClr val="CBC7C1"/>
                      </a:solidFill>
                      <a:prstDash val="solid"/>
                      <a:round/>
                      <a:headEnd type="none" w="med" len="med"/>
                      <a:tailEnd type="none" w="med" len="med"/>
                    </a:lnL>
                    <a:lnR w="12700" cap="flat" cmpd="sng" algn="ctr">
                      <a:solidFill>
                        <a:srgbClr val="CBC7C1"/>
                      </a:solidFill>
                      <a:prstDash val="solid"/>
                      <a:round/>
                      <a:headEnd type="none" w="med" len="med"/>
                      <a:tailEnd type="none" w="med" len="med"/>
                    </a:lnR>
                    <a:lnT w="12700" cap="flat" cmpd="sng" algn="ctr">
                      <a:solidFill>
                        <a:srgbClr val="CBC7C1"/>
                      </a:solidFill>
                      <a:prstDash val="solid"/>
                      <a:round/>
                      <a:headEnd type="none" w="med" len="med"/>
                      <a:tailEnd type="none" w="med" len="med"/>
                    </a:lnT>
                    <a:lnB w="12700" cap="flat" cmpd="sng" algn="ctr">
                      <a:solidFill>
                        <a:srgbClr val="CBC7C1"/>
                      </a:solidFill>
                      <a:prstDash val="solid"/>
                      <a:round/>
                      <a:headEnd type="none" w="med" len="med"/>
                      <a:tailEnd type="none" w="med" len="med"/>
                    </a:lnB>
                  </a:tcPr>
                </a:tc>
                <a:tc>
                  <a:txBody>
                    <a:bodyPr/>
                    <a:lstStyle/>
                    <a:p>
                      <a:pPr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30 – 31 oct</a:t>
                      </a:r>
                      <a:endParaRPr lang="en-US" sz="1200" dirty="0">
                        <a:latin typeface="Nunito Sans" charset="0"/>
                        <a:ea typeface="Nunito Sans" charset="0"/>
                        <a:cs typeface="Nunito Sans" charset="0"/>
                      </a:endParaRPr>
                    </a:p>
                  </a:txBody>
                  <a:tcPr marL="127000" marR="127000" marT="101600" marB="101600" anchor="t">
                    <a:lnL w="12700" cap="flat" cmpd="sng" algn="ctr">
                      <a:solidFill>
                        <a:srgbClr val="CBC7C1"/>
                      </a:solidFill>
                      <a:prstDash val="solid"/>
                      <a:round/>
                      <a:headEnd type="none" w="med" len="med"/>
                      <a:tailEnd type="none" w="med" len="med"/>
                    </a:lnL>
                    <a:lnR w="12700" cap="flat" cmpd="sng" algn="ctr">
                      <a:solidFill>
                        <a:srgbClr val="CBC7C1"/>
                      </a:solidFill>
                      <a:prstDash val="solid"/>
                      <a:round/>
                      <a:headEnd type="none" w="med" len="med"/>
                      <a:tailEnd type="none" w="med" len="med"/>
                    </a:lnR>
                    <a:lnT w="12700" cap="flat" cmpd="sng" algn="ctr">
                      <a:solidFill>
                        <a:srgbClr val="CBC7C1"/>
                      </a:solidFill>
                      <a:prstDash val="solid"/>
                      <a:round/>
                      <a:headEnd type="none" w="med" len="med"/>
                      <a:tailEnd type="none" w="med" len="med"/>
                    </a:lnT>
                    <a:lnB w="12700" cap="flat" cmpd="sng" algn="ctr">
                      <a:solidFill>
                        <a:srgbClr val="CBC7C1"/>
                      </a:solidFill>
                      <a:prstDash val="solid"/>
                      <a:round/>
                      <a:headEnd type="none" w="med" len="med"/>
                      <a:tailEnd type="none" w="med" len="med"/>
                    </a:lnB>
                  </a:tcPr>
                </a:tc>
                <a:tc>
                  <a:txBody>
                    <a:bodyPr/>
                    <a:lstStyle/>
                    <a:p>
                      <a:pPr indent="0" marL="0">
                        <a:lnSpc>
                          <a:spcPts val="1680"/>
                        </a:lnSpc>
                        <a:buNone/>
                      </a:pPr>
                      <a:r>
                        <a:rPr lang="en-US" sz="1200" dirty="0">
                          <a:solidFill>
                            <a:srgbClr val="B45309"/>
                          </a:solidFill>
                          <a:latin typeface="Nunito Sans" pitchFamily="34" charset="0"/>
                          <a:ea typeface="Nunito Sans" pitchFamily="34" charset="-122"/>
                          <a:cs typeface="Nunito Sans" pitchFamily="34" charset="-120"/>
                        </a:rPr>
                        <a:t>Se desplaza 2 días</a:t>
                      </a:r>
                      <a:endParaRPr lang="en-US" sz="1200" dirty="0">
                        <a:latin typeface="Nunito Sans" charset="0"/>
                        <a:ea typeface="Nunito Sans" charset="0"/>
                        <a:cs typeface="Nunito Sans" charset="0"/>
                      </a:endParaRPr>
                    </a:p>
                  </a:txBody>
                  <a:tcPr marL="127000" marR="127000" marT="101600" marB="101600" anchor="t">
                    <a:lnL w="12700" cap="flat" cmpd="sng" algn="ctr">
                      <a:solidFill>
                        <a:srgbClr val="CBC7C1"/>
                      </a:solidFill>
                      <a:prstDash val="solid"/>
                      <a:round/>
                      <a:headEnd type="none" w="med" len="med"/>
                      <a:tailEnd type="none" w="med" len="med"/>
                    </a:lnL>
                    <a:lnR w="12700" cap="flat" cmpd="sng" algn="ctr">
                      <a:solidFill>
                        <a:srgbClr val="CBC7C1"/>
                      </a:solidFill>
                      <a:prstDash val="solid"/>
                      <a:round/>
                      <a:headEnd type="none" w="med" len="med"/>
                      <a:tailEnd type="none" w="med" len="med"/>
                    </a:lnR>
                    <a:lnT w="12700" cap="flat" cmpd="sng" algn="ctr">
                      <a:solidFill>
                        <a:srgbClr val="CBC7C1"/>
                      </a:solidFill>
                      <a:prstDash val="solid"/>
                      <a:round/>
                      <a:headEnd type="none" w="med" len="med"/>
                      <a:tailEnd type="none" w="med" len="med"/>
                    </a:lnT>
                    <a:lnB w="12700" cap="flat" cmpd="sng" algn="ctr">
                      <a:solidFill>
                        <a:srgbClr val="CBC7C1"/>
                      </a:solidFill>
                      <a:prstDash val="solid"/>
                      <a:round/>
                      <a:headEnd type="none" w="med" len="med"/>
                      <a:tailEnd type="none" w="med" len="med"/>
                    </a:lnB>
                  </a:tcPr>
                </a:tc>
              </a:tr>
            </a:tbl>
          </a:graphicData>
        </a:graphic>
      </p:graphicFrame>
      <p:sp>
        <p:nvSpPr>
          <p:cNvPr id="7" name="Shape 4"/>
          <p:cNvSpPr/>
          <p:nvPr/>
        </p:nvSpPr>
        <p:spPr>
          <a:xfrm>
            <a:off x="8585200" y="1564615"/>
            <a:ext cx="2794000" cy="2156222"/>
          </a:xfrm>
          <a:prstGeom prst="roundRect">
            <a:avLst>
              <a:gd name="adj" fmla="val 4712"/>
            </a:avLst>
          </a:prstGeom>
          <a:solidFill>
            <a:srgbClr val="2A1E16"/>
          </a:solidFill>
          <a:ln/>
        </p:spPr>
      </p:sp>
      <p:sp>
        <p:nvSpPr>
          <p:cNvPr id="8" name="Text 5"/>
          <p:cNvSpPr/>
          <p:nvPr/>
        </p:nvSpPr>
        <p:spPr>
          <a:xfrm>
            <a:off x="8839200" y="1818615"/>
            <a:ext cx="235458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5C"/>
                </a:solidFill>
                <a:latin typeface="Nunito Sans" pitchFamily="34" charset="0"/>
                <a:ea typeface="Nunito Sans" pitchFamily="34" charset="-122"/>
                <a:cs typeface="Nunito Sans" pitchFamily="34" charset="-120"/>
              </a:rPr>
              <a:t>VELOCIDAD SPRINT 1</a:t>
            </a:r>
            <a:endParaRPr lang="en-US" sz="1200" dirty="0">
              <a:latin typeface="Nunito Sans" charset="0"/>
              <a:ea typeface="Nunito Sans" charset="0"/>
              <a:cs typeface="Nunito Sans" charset="0"/>
            </a:endParaRPr>
          </a:p>
        </p:txBody>
      </p:sp>
      <p:sp>
        <p:nvSpPr>
          <p:cNvPr id="9" name="Text 6"/>
          <p:cNvSpPr/>
          <p:nvPr/>
        </p:nvSpPr>
        <p:spPr>
          <a:xfrm>
            <a:off x="8839200" y="2108135"/>
            <a:ext cx="235458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6EFE3"/>
                </a:solidFill>
                <a:latin typeface="Domine" pitchFamily="18" charset="0"/>
                <a:ea typeface="Domine" pitchFamily="18" charset="-122"/>
                <a:cs typeface="Domine" pitchFamily="18" charset="-120"/>
              </a:rPr>
              <a:t>94,6 %</a:t>
            </a:r>
            <a:endParaRPr lang="en-US" sz="4800" dirty="0">
              <a:latin typeface="Domine" charset="0"/>
              <a:ea typeface="Domine" charset="0"/>
              <a:cs typeface="Domine" charset="0"/>
            </a:endParaRPr>
          </a:p>
        </p:txBody>
      </p:sp>
      <p:sp>
        <p:nvSpPr>
          <p:cNvPr id="10" name="Text 7"/>
          <p:cNvSpPr/>
          <p:nvPr/>
        </p:nvSpPr>
        <p:spPr>
          <a:xfrm>
            <a:off x="8839200" y="2793935"/>
            <a:ext cx="235458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EFE3"/>
                </a:solidFill>
                <a:latin typeface="Nunito Sans" pitchFamily="34" charset="0"/>
                <a:ea typeface="Nunito Sans" pitchFamily="34" charset="-122"/>
                <a:cs typeface="Nunito Sans" pitchFamily="34" charset="-120"/>
              </a:rPr>
              <a:t>53 de 56 puntos; 12 de 13 historias terminadas.</a:t>
            </a:r>
            <a:endParaRPr lang="en-US" sz="1200" dirty="0">
              <a:latin typeface="Nunito Sans" charset="0"/>
              <a:ea typeface="Nunito Sans" charset="0"/>
              <a:cs typeface="Nunito Sans" charset="0"/>
            </a:endParaRPr>
          </a:p>
        </p:txBody>
      </p:sp>
      <p:sp>
        <p:nvSpPr>
          <p:cNvPr id="11" name="Shape 8"/>
          <p:cNvSpPr/>
          <p:nvPr/>
        </p:nvSpPr>
        <p:spPr>
          <a:xfrm>
            <a:off x="815975" y="4028811"/>
            <a:ext cx="3380317" cy="1327878"/>
          </a:xfrm>
          <a:prstGeom prst="roundRect">
            <a:avLst>
              <a:gd name="adj" fmla="val 7412"/>
            </a:avLst>
          </a:prstGeom>
          <a:solidFill>
            <a:srgbClr val="FFFAF2"/>
          </a:solidFill>
          <a:ln w="6350">
            <a:solidFill>
              <a:srgbClr val="D9C9B0"/>
            </a:solidFill>
            <a:prstDash val="solid"/>
          </a:ln>
        </p:spPr>
      </p:sp>
      <p:sp>
        <p:nvSpPr>
          <p:cNvPr id="12" name="Text 9"/>
          <p:cNvSpPr/>
          <p:nvPr/>
        </p:nvSpPr>
        <p:spPr>
          <a:xfrm>
            <a:off x="1071033" y="4233069"/>
            <a:ext cx="29563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A1E16"/>
                </a:solidFill>
                <a:latin typeface="Nunito Sans" pitchFamily="34" charset="0"/>
                <a:ea typeface="Nunito Sans" pitchFamily="34" charset="-122"/>
                <a:cs typeface="Nunito Sans" pitchFamily="34" charset="-120"/>
              </a:rPr>
              <a:t>Control de cambios</a:t>
            </a:r>
            <a:endParaRPr lang="en-US" sz="1500" dirty="0">
              <a:latin typeface="Nunito Sans" charset="0"/>
              <a:ea typeface="Nunito Sans" charset="0"/>
              <a:cs typeface="Nunito Sans" charset="0"/>
            </a:endParaRPr>
          </a:p>
        </p:txBody>
      </p:sp>
      <p:sp>
        <p:nvSpPr>
          <p:cNvPr id="13" name="Text 10"/>
          <p:cNvSpPr/>
          <p:nvPr/>
        </p:nvSpPr>
        <p:spPr>
          <a:xfrm>
            <a:off x="1071033" y="4512469"/>
            <a:ext cx="295630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Sprint 1 pasó de 2 a 4 días: 28 puntos por día no cabían. Decisión del PO: [completar].</a:t>
            </a:r>
            <a:endParaRPr lang="en-US" sz="1200" dirty="0">
              <a:latin typeface="Nunito Sans" charset="0"/>
              <a:ea typeface="Nunito Sans" charset="0"/>
              <a:cs typeface="Nunito Sans" charset="0"/>
            </a:endParaRPr>
          </a:p>
        </p:txBody>
      </p:sp>
      <p:sp>
        <p:nvSpPr>
          <p:cNvPr id="14" name="Shape 11"/>
          <p:cNvSpPr/>
          <p:nvPr/>
        </p:nvSpPr>
        <p:spPr>
          <a:xfrm>
            <a:off x="4405842" y="4028811"/>
            <a:ext cx="3380317" cy="1327878"/>
          </a:xfrm>
          <a:prstGeom prst="roundRect">
            <a:avLst>
              <a:gd name="adj" fmla="val 7412"/>
            </a:avLst>
          </a:prstGeom>
          <a:solidFill>
            <a:srgbClr val="FFFAF2"/>
          </a:solidFill>
          <a:ln w="6350">
            <a:solidFill>
              <a:srgbClr val="D9C9B0"/>
            </a:solidFill>
            <a:prstDash val="solid"/>
          </a:ln>
        </p:spPr>
      </p:sp>
      <p:sp>
        <p:nvSpPr>
          <p:cNvPr id="15" name="Text 12"/>
          <p:cNvSpPr/>
          <p:nvPr/>
        </p:nvSpPr>
        <p:spPr>
          <a:xfrm>
            <a:off x="4660900" y="4233069"/>
            <a:ext cx="29563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A1E16"/>
                </a:solidFill>
                <a:latin typeface="Nunito Sans" pitchFamily="34" charset="0"/>
                <a:ea typeface="Nunito Sans" pitchFamily="34" charset="-122"/>
                <a:cs typeface="Nunito Sans" pitchFamily="34" charset="-120"/>
              </a:rPr>
              <a:t>Evidencia del repositorio</a:t>
            </a:r>
            <a:endParaRPr lang="en-US" sz="1500" dirty="0">
              <a:latin typeface="Nunito Sans" charset="0"/>
              <a:ea typeface="Nunito Sans" charset="0"/>
              <a:cs typeface="Nunito Sans" charset="0"/>
            </a:endParaRPr>
          </a:p>
        </p:txBody>
      </p:sp>
      <p:sp>
        <p:nvSpPr>
          <p:cNvPr id="16" name="Text 13"/>
          <p:cNvSpPr/>
          <p:nvPr/>
        </p:nvSpPr>
        <p:spPr>
          <a:xfrm>
            <a:off x="4660900" y="4512469"/>
            <a:ext cx="295630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109 commits y 44 Pull Requests integrados del 24 al 31 de octubre en GitHub.</a:t>
            </a:r>
            <a:endParaRPr lang="en-US" sz="1200" dirty="0">
              <a:latin typeface="Nunito Sans" charset="0"/>
              <a:ea typeface="Nunito Sans" charset="0"/>
              <a:cs typeface="Nunito Sans" charset="0"/>
            </a:endParaRPr>
          </a:p>
        </p:txBody>
      </p:sp>
      <p:sp>
        <p:nvSpPr>
          <p:cNvPr id="17" name="Shape 14"/>
          <p:cNvSpPr/>
          <p:nvPr/>
        </p:nvSpPr>
        <p:spPr>
          <a:xfrm>
            <a:off x="7995709" y="4028811"/>
            <a:ext cx="3380317" cy="1327878"/>
          </a:xfrm>
          <a:prstGeom prst="roundRect">
            <a:avLst>
              <a:gd name="adj" fmla="val 7412"/>
            </a:avLst>
          </a:prstGeom>
          <a:solidFill>
            <a:srgbClr val="FFFAF2"/>
          </a:solidFill>
          <a:ln w="6350">
            <a:solidFill>
              <a:srgbClr val="D9C9B0"/>
            </a:solidFill>
            <a:prstDash val="solid"/>
          </a:ln>
        </p:spPr>
      </p:sp>
      <p:sp>
        <p:nvSpPr>
          <p:cNvPr id="18" name="Text 15"/>
          <p:cNvSpPr/>
          <p:nvPr/>
        </p:nvSpPr>
        <p:spPr>
          <a:xfrm>
            <a:off x="8250767" y="4233069"/>
            <a:ext cx="29563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A1E16"/>
                </a:solidFill>
                <a:latin typeface="Nunito Sans" pitchFamily="34" charset="0"/>
                <a:ea typeface="Nunito Sans" pitchFamily="34" charset="-122"/>
                <a:cs typeface="Nunito Sans" pitchFamily="34" charset="-120"/>
              </a:rPr>
              <a:t>Valor ganado</a:t>
            </a:r>
            <a:endParaRPr lang="en-US" sz="1500" dirty="0">
              <a:latin typeface="Nunito Sans" charset="0"/>
              <a:ea typeface="Nunito Sans" charset="0"/>
              <a:cs typeface="Nunito Sans" charset="0"/>
            </a:endParaRPr>
          </a:p>
        </p:txBody>
      </p:sp>
      <p:sp>
        <p:nvSpPr>
          <p:cNvPr id="19" name="Text 16"/>
          <p:cNvSpPr/>
          <p:nvPr/>
        </p:nvSpPr>
        <p:spPr>
          <a:xfrm>
            <a:off x="8250767" y="4512469"/>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SPI = [__] · CPI = [__] · EAC = [__]</a:t>
            </a:r>
            <a:endParaRPr lang="en-US" sz="1200" dirty="0">
              <a:latin typeface="Nunito Sans" charset="0"/>
              <a:ea typeface="Nunito Sans" charset="0"/>
              <a:cs typeface="Nunito Sans" charset="0"/>
            </a:endParaRPr>
          </a:p>
        </p:txBody>
      </p:sp>
      <p:sp>
        <p:nvSpPr>
          <p:cNvPr id="20" name="Text 17"/>
          <p:cNvSpPr/>
          <p:nvPr/>
        </p:nvSpPr>
        <p:spPr>
          <a:xfrm>
            <a:off x="812800" y="6238280"/>
            <a:ext cx="33669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A4A"/>
                </a:solidFill>
                <a:latin typeface="Nunito Sans" pitchFamily="34" charset="0"/>
                <a:ea typeface="Nunito Sans" pitchFamily="34" charset="-122"/>
                <a:cs typeface="Nunito Sans" pitchFamily="34" charset="-120"/>
              </a:rPr>
              <a:t>Panadería San Nicolás · Segunda entrega</a:t>
            </a:r>
            <a:endParaRPr lang="en-US" sz="1200" dirty="0">
              <a:latin typeface="Nunito Sans" charset="0"/>
              <a:ea typeface="Nunito Sans" charset="0"/>
              <a:cs typeface="Nunito Sans" charset="0"/>
            </a:endParaRPr>
          </a:p>
        </p:txBody>
      </p:sp>
      <p:sp>
        <p:nvSpPr>
          <p:cNvPr id="21" name="Text 18"/>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A4A"/>
                </a:solidFill>
                <a:latin typeface="Nunito Sans" pitchFamily="34" charset="0"/>
                <a:ea typeface="Nunito Sans" pitchFamily="34" charset="-122"/>
                <a:cs typeface="Nunito Sans" pitchFamily="34" charset="-120"/>
              </a:rPr>
              <a:t>6</a:t>
            </a:r>
            <a:endParaRPr lang="en-US" sz="1200" dirty="0">
              <a:latin typeface="Nunito Sans" charset="0"/>
              <a:ea typeface="Nunito Sans" charset="0"/>
              <a:cs typeface="Nunito Sans"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EFE3"/>
        </a:solidFill>
      </p:bgPr>
    </p:bg>
    <p:spTree>
      <p:nvGrpSpPr>
        <p:cNvPr id="1" name=""/>
        <p:cNvGrpSpPr/>
        <p:nvPr/>
      </p:nvGrpSpPr>
      <p:grpSpPr>
        <a:xfrm>
          <a:off x="0" y="0"/>
          <a:ext cx="0" cy="0"/>
          <a:chOff x="0" y="0"/>
          <a:chExt cx="0" cy="0"/>
        </a:xfrm>
      </p:grpSpPr>
      <p:sp>
        <p:nvSpPr>
          <p:cNvPr id="2" name="Text 0"/>
          <p:cNvSpPr/>
          <p:nvPr/>
        </p:nvSpPr>
        <p:spPr>
          <a:xfrm>
            <a:off x="812800" y="6238280"/>
            <a:ext cx="33669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5A4A"/>
                </a:solidFill>
                <a:latin typeface="Nunito Sans" pitchFamily="34" charset="0"/>
                <a:ea typeface="Nunito Sans" pitchFamily="34" charset="-122"/>
                <a:cs typeface="Nunito Sans" pitchFamily="34" charset="-120"/>
              </a:rPr>
              <a:t>Panadería San Nicolás · Segunda entrega</a:t>
            </a:r>
            <a:endParaRPr lang="en-US" sz="1200" dirty="0">
              <a:latin typeface="Nunito Sans" charset="0"/>
              <a:ea typeface="Nunito Sans" charset="0"/>
              <a:cs typeface="Nunito Sans" charset="0"/>
            </a:endParaRPr>
          </a:p>
        </p:txBody>
      </p:sp>
      <p:sp>
        <p:nvSpPr>
          <p:cNvPr id="3" name="Text 1"/>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5A4A"/>
                </a:solidFill>
                <a:latin typeface="Nunito Sans" pitchFamily="34" charset="0"/>
                <a:ea typeface="Nunito Sans" pitchFamily="34" charset="-122"/>
                <a:cs typeface="Nunito Sans" pitchFamily="34" charset="-120"/>
              </a:rPr>
              <a:t>7</a:t>
            </a:r>
            <a:endParaRPr lang="en-US" sz="1200" dirty="0">
              <a:latin typeface="Nunito Sans" charset="0"/>
              <a:ea typeface="Nunito Sans" charset="0"/>
              <a:cs typeface="Nunito Sans" charset="0"/>
            </a:endParaRPr>
          </a:p>
        </p:txBody>
      </p:sp>
      <p:sp>
        <p:nvSpPr>
          <p:cNvPr id="4" name="Text 2"/>
          <p:cNvSpPr/>
          <p:nvPr>
            <p:ph type="title"/>
          </p:nvPr>
        </p:nvSpPr>
        <p:spPr>
          <a:xfrm>
            <a:off x="812800" y="81280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2A1E16"/>
                </a:solidFill>
                <a:latin typeface="Domine" pitchFamily="18" charset="0"/>
                <a:ea typeface="Domine" pitchFamily="18" charset="-122"/>
                <a:cs typeface="Domine" pitchFamily="18" charset="-120"/>
              </a:rPr>
              <a:t>Resultados: la app funciona y está probada</a:t>
            </a:r>
            <a:endParaRPr lang="en-US" sz="3200" dirty="0">
              <a:latin typeface="Domine" charset="0"/>
              <a:ea typeface="Domine" charset="0"/>
              <a:cs typeface="Domine" charset="0"/>
            </a:endParaRPr>
          </a:p>
        </p:txBody>
      </p:sp>
      <p:sp>
        <p:nvSpPr>
          <p:cNvPr id="5" name="Shape 3"/>
          <p:cNvSpPr/>
          <p:nvPr/>
        </p:nvSpPr>
        <p:spPr>
          <a:xfrm>
            <a:off x="815975" y="1565275"/>
            <a:ext cx="3380317" cy="1460500"/>
          </a:xfrm>
          <a:prstGeom prst="roundRect">
            <a:avLst>
              <a:gd name="adj" fmla="val 6739"/>
            </a:avLst>
          </a:prstGeom>
          <a:solidFill>
            <a:srgbClr val="FFFAF2"/>
          </a:solidFill>
          <a:ln w="6350">
            <a:solidFill>
              <a:srgbClr val="E3D6C2"/>
            </a:solidFill>
            <a:prstDash val="solid"/>
          </a:ln>
        </p:spPr>
      </p:sp>
      <p:sp>
        <p:nvSpPr>
          <p:cNvPr id="6" name="Text 4"/>
          <p:cNvSpPr/>
          <p:nvPr/>
        </p:nvSpPr>
        <p:spPr>
          <a:xfrm>
            <a:off x="1071033" y="1820335"/>
            <a:ext cx="2956306"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45309"/>
                </a:solidFill>
                <a:latin typeface="Domine" pitchFamily="18" charset="0"/>
                <a:ea typeface="Domine" pitchFamily="18" charset="-122"/>
                <a:cs typeface="Domine" pitchFamily="18" charset="-120"/>
              </a:rPr>
              <a:t>33 / 33</a:t>
            </a:r>
            <a:endParaRPr lang="en-US" sz="3200" dirty="0">
              <a:latin typeface="Domine" charset="0"/>
              <a:ea typeface="Domine" charset="0"/>
              <a:cs typeface="Domine" charset="0"/>
            </a:endParaRPr>
          </a:p>
        </p:txBody>
      </p:sp>
      <p:sp>
        <p:nvSpPr>
          <p:cNvPr id="7" name="Text 5"/>
          <p:cNvSpPr/>
          <p:nvPr/>
        </p:nvSpPr>
        <p:spPr>
          <a:xfrm>
            <a:off x="1071033" y="2343547"/>
            <a:ext cx="295630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pruebas automáticas aprobadas, de la carga del Excel a los gráficos.</a:t>
            </a:r>
            <a:endParaRPr lang="en-US" sz="1200" dirty="0">
              <a:latin typeface="Nunito Sans" charset="0"/>
              <a:ea typeface="Nunito Sans" charset="0"/>
              <a:cs typeface="Nunito Sans" charset="0"/>
            </a:endParaRPr>
          </a:p>
        </p:txBody>
      </p:sp>
      <p:sp>
        <p:nvSpPr>
          <p:cNvPr id="8" name="Shape 6"/>
          <p:cNvSpPr/>
          <p:nvPr/>
        </p:nvSpPr>
        <p:spPr>
          <a:xfrm>
            <a:off x="4405842" y="1565275"/>
            <a:ext cx="3380317" cy="1460500"/>
          </a:xfrm>
          <a:prstGeom prst="roundRect">
            <a:avLst>
              <a:gd name="adj" fmla="val 6739"/>
            </a:avLst>
          </a:prstGeom>
          <a:solidFill>
            <a:srgbClr val="FFFAF2"/>
          </a:solidFill>
          <a:ln w="6350">
            <a:solidFill>
              <a:srgbClr val="E3D6C2"/>
            </a:solidFill>
            <a:prstDash val="solid"/>
          </a:ln>
        </p:spPr>
      </p:sp>
      <p:sp>
        <p:nvSpPr>
          <p:cNvPr id="9" name="Text 7"/>
          <p:cNvSpPr/>
          <p:nvPr/>
        </p:nvSpPr>
        <p:spPr>
          <a:xfrm>
            <a:off x="4660900" y="1820335"/>
            <a:ext cx="2956306"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45309"/>
                </a:solidFill>
                <a:latin typeface="Domine" pitchFamily="18" charset="0"/>
                <a:ea typeface="Domine" pitchFamily="18" charset="-122"/>
                <a:cs typeface="Domine" pitchFamily="18" charset="-120"/>
              </a:rPr>
              <a:t>7 de 7</a:t>
            </a:r>
            <a:endParaRPr lang="en-US" sz="3200" dirty="0">
              <a:latin typeface="Domine" charset="0"/>
              <a:ea typeface="Domine" charset="0"/>
              <a:cs typeface="Domine" charset="0"/>
            </a:endParaRPr>
          </a:p>
        </p:txBody>
      </p:sp>
      <p:sp>
        <p:nvSpPr>
          <p:cNvPr id="10" name="Text 8"/>
          <p:cNvSpPr/>
          <p:nvPr/>
        </p:nvSpPr>
        <p:spPr>
          <a:xfrm>
            <a:off x="4660900" y="2343547"/>
            <a:ext cx="295630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indicadores iguales al cálculo manual con un archivo distinto (octubre).</a:t>
            </a:r>
            <a:endParaRPr lang="en-US" sz="1200" dirty="0">
              <a:latin typeface="Nunito Sans" charset="0"/>
              <a:ea typeface="Nunito Sans" charset="0"/>
              <a:cs typeface="Nunito Sans" charset="0"/>
            </a:endParaRPr>
          </a:p>
        </p:txBody>
      </p:sp>
      <p:sp>
        <p:nvSpPr>
          <p:cNvPr id="11" name="Shape 9"/>
          <p:cNvSpPr/>
          <p:nvPr/>
        </p:nvSpPr>
        <p:spPr>
          <a:xfrm>
            <a:off x="7995709" y="1565275"/>
            <a:ext cx="3380317" cy="1460500"/>
          </a:xfrm>
          <a:prstGeom prst="roundRect">
            <a:avLst>
              <a:gd name="adj" fmla="val 6739"/>
            </a:avLst>
          </a:prstGeom>
          <a:solidFill>
            <a:srgbClr val="FFFAF2"/>
          </a:solidFill>
          <a:ln w="6350">
            <a:solidFill>
              <a:srgbClr val="E3D6C2"/>
            </a:solidFill>
            <a:prstDash val="solid"/>
          </a:ln>
        </p:spPr>
      </p:sp>
      <p:sp>
        <p:nvSpPr>
          <p:cNvPr id="12" name="Text 10"/>
          <p:cNvSpPr/>
          <p:nvPr/>
        </p:nvSpPr>
        <p:spPr>
          <a:xfrm>
            <a:off x="8250767" y="1820335"/>
            <a:ext cx="2956306"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B45309"/>
                </a:solidFill>
                <a:latin typeface="Domine" pitchFamily="18" charset="0"/>
                <a:ea typeface="Domine" pitchFamily="18" charset="-122"/>
                <a:cs typeface="Domine" pitchFamily="18" charset="-120"/>
              </a:rPr>
              <a:t>E1 – E11</a:t>
            </a:r>
            <a:endParaRPr lang="en-US" sz="3200" dirty="0">
              <a:latin typeface="Domine" charset="0"/>
              <a:ea typeface="Domine" charset="0"/>
              <a:cs typeface="Domine" charset="0"/>
            </a:endParaRPr>
          </a:p>
        </p:txBody>
      </p:sp>
      <p:sp>
        <p:nvSpPr>
          <p:cNvPr id="13" name="Text 11"/>
          <p:cNvSpPr/>
          <p:nvPr/>
        </p:nvSpPr>
        <p:spPr>
          <a:xfrm>
            <a:off x="8250767" y="2343547"/>
            <a:ext cx="295630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E16"/>
                </a:solidFill>
                <a:latin typeface="Nunito Sans" pitchFamily="34" charset="0"/>
                <a:ea typeface="Nunito Sans" pitchFamily="34" charset="-122"/>
                <a:cs typeface="Nunito Sans" pitchFamily="34" charset="-120"/>
              </a:rPr>
              <a:t>casos en el navegador aprobados por QA el 30 de octubre.</a:t>
            </a:r>
            <a:endParaRPr lang="en-US" sz="1200" dirty="0">
              <a:latin typeface="Nunito Sans" charset="0"/>
              <a:ea typeface="Nunito Sans" charset="0"/>
              <a:cs typeface="Nunito Sans" charset="0"/>
            </a:endParaRPr>
          </a:p>
        </p:txBody>
      </p:sp>
      <p:sp>
        <p:nvSpPr>
          <p:cNvPr id="14" name="Shape 12"/>
          <p:cNvSpPr/>
          <p:nvPr/>
        </p:nvSpPr>
        <p:spPr>
          <a:xfrm>
            <a:off x="812800" y="3333750"/>
            <a:ext cx="10566400" cy="1327150"/>
          </a:xfrm>
          <a:prstGeom prst="roundRect">
            <a:avLst>
              <a:gd name="adj" fmla="val 7656"/>
            </a:avLst>
          </a:prstGeom>
          <a:solidFill>
            <a:srgbClr val="2F5D8A"/>
          </a:solidFill>
          <a:ln/>
        </p:spPr>
      </p:sp>
      <p:sp>
        <p:nvSpPr>
          <p:cNvPr id="15" name="Text 13"/>
          <p:cNvSpPr/>
          <p:nvPr/>
        </p:nvSpPr>
        <p:spPr>
          <a:xfrm>
            <a:off x="1066800" y="3536950"/>
            <a:ext cx="1036015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EFE3"/>
                </a:solidFill>
                <a:latin typeface="Nunito Sans" pitchFamily="34" charset="0"/>
                <a:ea typeface="Nunito Sans" pitchFamily="34" charset="-122"/>
                <a:cs typeface="Nunito Sans" pitchFamily="34" charset="-120"/>
              </a:rPr>
              <a:t>Beneficio</a:t>
            </a:r>
            <a:endParaRPr lang="en-US" sz="1500" dirty="0">
              <a:latin typeface="Nunito Sans" charset="0"/>
              <a:ea typeface="Nunito Sans" charset="0"/>
              <a:cs typeface="Nunito Sans" charset="0"/>
            </a:endParaRPr>
          </a:p>
        </p:txBody>
      </p:sp>
      <p:sp>
        <p:nvSpPr>
          <p:cNvPr id="16" name="Text 14"/>
          <p:cNvSpPr/>
          <p:nvPr/>
        </p:nvSpPr>
        <p:spPr>
          <a:xfrm>
            <a:off x="1066800" y="3816350"/>
            <a:ext cx="103601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EFE3"/>
                </a:solidFill>
                <a:latin typeface="Nunito Sans" pitchFamily="34" charset="0"/>
                <a:ea typeface="Nunito Sans" pitchFamily="34" charset="-122"/>
                <a:cs typeface="Nunito Sans" pitchFamily="34" charset="-120"/>
              </a:rPr>
              <a:t>≈ $432.000/mes de ahorro (supuesto: no vendido de 12 % a 9 %). VPN de +$3,58 M a 24 meses.</a:t>
            </a:r>
            <a:endParaRPr lang="en-US" sz="1200" dirty="0">
              <a:latin typeface="Nunito Sans" charset="0"/>
              <a:ea typeface="Nunito Sans" charset="0"/>
              <a:cs typeface="Nunito Sans"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B4530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FDF6EC"/>
                </a:solidFill>
                <a:latin typeface="Nunito Sans" pitchFamily="34" charset="0"/>
                <a:ea typeface="Nunito Sans" pitchFamily="34" charset="-122"/>
                <a:cs typeface="Nunito Sans" pitchFamily="34" charset="-120"/>
              </a:rPr>
              <a:t>DEMOSTRACIÓN EN VIVO</a:t>
            </a:r>
            <a:endParaRPr lang="en-US" sz="1200" dirty="0">
              <a:latin typeface="Nunito Sans" charset="0"/>
              <a:ea typeface="Nunito Sans" charset="0"/>
              <a:cs typeface="Nunito Sans" charset="0"/>
            </a:endParaRPr>
          </a:p>
        </p:txBody>
      </p:sp>
      <p:sp>
        <p:nvSpPr>
          <p:cNvPr id="3" name="Text 1"/>
          <p:cNvSpPr/>
          <p:nvPr>
            <p:ph type="title"/>
          </p:nvPr>
        </p:nvSpPr>
        <p:spPr>
          <a:xfrm>
            <a:off x="812800" y="1178520"/>
            <a:ext cx="9810750" cy="1366441"/>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DF6EC"/>
                </a:solidFill>
                <a:latin typeface="Domine" pitchFamily="18" charset="0"/>
                <a:ea typeface="Domine" pitchFamily="18" charset="-122"/>
                <a:cs typeface="Domine" pitchFamily="18" charset="-120"/>
              </a:rPr>
              <a:t>Con el archivo del docente, el tablero sale en segundos</a:t>
            </a:r>
            <a:endParaRPr lang="en-US" sz="4800" dirty="0">
              <a:latin typeface="Domine" charset="0"/>
              <a:ea typeface="Domine" charset="0"/>
              <a:cs typeface="Domine" charset="0"/>
            </a:endParaRPr>
          </a:p>
        </p:txBody>
      </p:sp>
      <p:sp>
        <p:nvSpPr>
          <p:cNvPr id="4" name="Shape 2"/>
          <p:cNvSpPr/>
          <p:nvPr/>
        </p:nvSpPr>
        <p:spPr>
          <a:xfrm>
            <a:off x="812800" y="3556000"/>
            <a:ext cx="2527300" cy="1239441"/>
          </a:xfrm>
          <a:prstGeom prst="roundRect">
            <a:avLst>
              <a:gd name="adj" fmla="val 8197"/>
            </a:avLst>
          </a:prstGeom>
          <a:solidFill>
            <a:srgbClr val="2A1E16"/>
          </a:solidFill>
          <a:ln/>
        </p:spPr>
      </p:sp>
      <p:sp>
        <p:nvSpPr>
          <p:cNvPr id="5" name="Text 3"/>
          <p:cNvSpPr/>
          <p:nvPr/>
        </p:nvSpPr>
        <p:spPr>
          <a:xfrm>
            <a:off x="1016000" y="3759200"/>
            <a:ext cx="218452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8A35C"/>
                </a:solidFill>
                <a:latin typeface="Domine" pitchFamily="18" charset="0"/>
                <a:ea typeface="Domine" pitchFamily="18" charset="-122"/>
                <a:cs typeface="Domine" pitchFamily="18" charset="-120"/>
              </a:rPr>
              <a:t>1</a:t>
            </a:r>
            <a:endParaRPr lang="en-US" sz="2000" dirty="0">
              <a:latin typeface="Domine" charset="0"/>
              <a:ea typeface="Domine" charset="0"/>
              <a:cs typeface="Domine" charset="0"/>
            </a:endParaRPr>
          </a:p>
        </p:txBody>
      </p:sp>
      <p:sp>
        <p:nvSpPr>
          <p:cNvPr id="6" name="Text 4"/>
          <p:cNvSpPr/>
          <p:nvPr/>
        </p:nvSpPr>
        <p:spPr>
          <a:xfrm>
            <a:off x="1016000" y="4165600"/>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EFE3"/>
                </a:solidFill>
                <a:latin typeface="Nunito Sans" pitchFamily="34" charset="0"/>
                <a:ea typeface="Nunito Sans" pitchFamily="34" charset="-122"/>
                <a:cs typeface="Nunito Sans" pitchFamily="34" charset="-120"/>
              </a:rPr>
              <a:t>Abrir la app con el enlace de Apps Script</a:t>
            </a:r>
            <a:endParaRPr lang="en-US" sz="1200" dirty="0">
              <a:latin typeface="Nunito Sans" charset="0"/>
              <a:ea typeface="Nunito Sans" charset="0"/>
              <a:cs typeface="Nunito Sans" charset="0"/>
            </a:endParaRPr>
          </a:p>
        </p:txBody>
      </p:sp>
      <p:sp>
        <p:nvSpPr>
          <p:cNvPr id="7" name="Shape 5"/>
          <p:cNvSpPr/>
          <p:nvPr/>
        </p:nvSpPr>
        <p:spPr>
          <a:xfrm>
            <a:off x="3492500" y="3556000"/>
            <a:ext cx="2527300" cy="1239441"/>
          </a:xfrm>
          <a:prstGeom prst="roundRect">
            <a:avLst>
              <a:gd name="adj" fmla="val 8197"/>
            </a:avLst>
          </a:prstGeom>
          <a:solidFill>
            <a:srgbClr val="2A1E16"/>
          </a:solidFill>
          <a:ln/>
        </p:spPr>
      </p:sp>
      <p:sp>
        <p:nvSpPr>
          <p:cNvPr id="8" name="Text 6"/>
          <p:cNvSpPr/>
          <p:nvPr/>
        </p:nvSpPr>
        <p:spPr>
          <a:xfrm>
            <a:off x="3695700" y="3759200"/>
            <a:ext cx="218452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8A35C"/>
                </a:solidFill>
                <a:latin typeface="Domine" pitchFamily="18" charset="0"/>
                <a:ea typeface="Domine" pitchFamily="18" charset="-122"/>
                <a:cs typeface="Domine" pitchFamily="18" charset="-120"/>
              </a:rPr>
              <a:t>2</a:t>
            </a:r>
            <a:endParaRPr lang="en-US" sz="2000" dirty="0">
              <a:latin typeface="Domine" charset="0"/>
              <a:ea typeface="Domine" charset="0"/>
              <a:cs typeface="Domine" charset="0"/>
            </a:endParaRPr>
          </a:p>
        </p:txBody>
      </p:sp>
      <p:sp>
        <p:nvSpPr>
          <p:cNvPr id="9" name="Text 7"/>
          <p:cNvSpPr/>
          <p:nvPr/>
        </p:nvSpPr>
        <p:spPr>
          <a:xfrm>
            <a:off x="3695700" y="4165600"/>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EFE3"/>
                </a:solidFill>
                <a:latin typeface="Nunito Sans" pitchFamily="34" charset="0"/>
                <a:ea typeface="Nunito Sans" pitchFamily="34" charset="-122"/>
                <a:cs typeface="Nunito Sans" pitchFamily="34" charset="-120"/>
              </a:rPr>
              <a:t>Cargar el Excel nuevo en «Cargar datos»</a:t>
            </a:r>
            <a:endParaRPr lang="en-US" sz="1200" dirty="0">
              <a:latin typeface="Nunito Sans" charset="0"/>
              <a:ea typeface="Nunito Sans" charset="0"/>
              <a:cs typeface="Nunito Sans" charset="0"/>
            </a:endParaRPr>
          </a:p>
        </p:txBody>
      </p:sp>
      <p:sp>
        <p:nvSpPr>
          <p:cNvPr id="10" name="Shape 8"/>
          <p:cNvSpPr/>
          <p:nvPr/>
        </p:nvSpPr>
        <p:spPr>
          <a:xfrm>
            <a:off x="6172200" y="3556000"/>
            <a:ext cx="2527300" cy="1239441"/>
          </a:xfrm>
          <a:prstGeom prst="roundRect">
            <a:avLst>
              <a:gd name="adj" fmla="val 8197"/>
            </a:avLst>
          </a:prstGeom>
          <a:solidFill>
            <a:srgbClr val="2A1E16"/>
          </a:solidFill>
          <a:ln/>
        </p:spPr>
      </p:sp>
      <p:sp>
        <p:nvSpPr>
          <p:cNvPr id="11" name="Text 9"/>
          <p:cNvSpPr/>
          <p:nvPr/>
        </p:nvSpPr>
        <p:spPr>
          <a:xfrm>
            <a:off x="6375400" y="3759200"/>
            <a:ext cx="218452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8A35C"/>
                </a:solidFill>
                <a:latin typeface="Domine" pitchFamily="18" charset="0"/>
                <a:ea typeface="Domine" pitchFamily="18" charset="-122"/>
                <a:cs typeface="Domine" pitchFamily="18" charset="-120"/>
              </a:rPr>
              <a:t>3</a:t>
            </a:r>
            <a:endParaRPr lang="en-US" sz="2000" dirty="0">
              <a:latin typeface="Domine" charset="0"/>
              <a:ea typeface="Domine" charset="0"/>
              <a:cs typeface="Domine" charset="0"/>
            </a:endParaRPr>
          </a:p>
        </p:txBody>
      </p:sp>
      <p:sp>
        <p:nvSpPr>
          <p:cNvPr id="12" name="Text 10"/>
          <p:cNvSpPr/>
          <p:nvPr/>
        </p:nvSpPr>
        <p:spPr>
          <a:xfrm>
            <a:off x="6375400" y="4165600"/>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EFE3"/>
                </a:solidFill>
                <a:latin typeface="Nunito Sans" pitchFamily="34" charset="0"/>
                <a:ea typeface="Nunito Sans" pitchFamily="34" charset="-122"/>
                <a:cs typeface="Nunito Sans" pitchFamily="34" charset="-120"/>
              </a:rPr>
              <a:t>Leer semáforos, hallazgos y filtrar por turno</a:t>
            </a:r>
            <a:endParaRPr lang="en-US" sz="1200" dirty="0">
              <a:latin typeface="Nunito Sans" charset="0"/>
              <a:ea typeface="Nunito Sans" charset="0"/>
              <a:cs typeface="Nunito Sans" charset="0"/>
            </a:endParaRPr>
          </a:p>
        </p:txBody>
      </p:sp>
      <p:sp>
        <p:nvSpPr>
          <p:cNvPr id="13" name="Shape 11"/>
          <p:cNvSpPr/>
          <p:nvPr/>
        </p:nvSpPr>
        <p:spPr>
          <a:xfrm>
            <a:off x="8851900" y="3556000"/>
            <a:ext cx="2527300" cy="1239441"/>
          </a:xfrm>
          <a:prstGeom prst="roundRect">
            <a:avLst>
              <a:gd name="adj" fmla="val 8197"/>
            </a:avLst>
          </a:prstGeom>
          <a:solidFill>
            <a:srgbClr val="2A1E16"/>
          </a:solidFill>
          <a:ln/>
        </p:spPr>
      </p:sp>
      <p:sp>
        <p:nvSpPr>
          <p:cNvPr id="14" name="Text 12"/>
          <p:cNvSpPr/>
          <p:nvPr/>
        </p:nvSpPr>
        <p:spPr>
          <a:xfrm>
            <a:off x="9055100" y="3759200"/>
            <a:ext cx="218452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E8A35C"/>
                </a:solidFill>
                <a:latin typeface="Domine" pitchFamily="18" charset="0"/>
                <a:ea typeface="Domine" pitchFamily="18" charset="-122"/>
                <a:cs typeface="Domine" pitchFamily="18" charset="-120"/>
              </a:rPr>
              <a:t>4</a:t>
            </a:r>
            <a:endParaRPr lang="en-US" sz="2000" dirty="0">
              <a:latin typeface="Domine" charset="0"/>
              <a:ea typeface="Domine" charset="0"/>
              <a:cs typeface="Domine" charset="0"/>
            </a:endParaRPr>
          </a:p>
        </p:txBody>
      </p:sp>
      <p:sp>
        <p:nvSpPr>
          <p:cNvPr id="15" name="Text 13"/>
          <p:cNvSpPr/>
          <p:nvPr/>
        </p:nvSpPr>
        <p:spPr>
          <a:xfrm>
            <a:off x="9055100" y="4165600"/>
            <a:ext cx="21845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EFE3"/>
                </a:solidFill>
                <a:latin typeface="Nunito Sans" pitchFamily="34" charset="0"/>
                <a:ea typeface="Nunito Sans" pitchFamily="34" charset="-122"/>
                <a:cs typeface="Nunito Sans" pitchFamily="34" charset="-120"/>
              </a:rPr>
              <a:t>Exportar CSV o imprimir en PDF</a:t>
            </a:r>
            <a:endParaRPr lang="en-US" sz="1200" dirty="0">
              <a:latin typeface="Nunito Sans" charset="0"/>
              <a:ea typeface="Nunito Sans" charset="0"/>
              <a:cs typeface="Nunito Sans" charset="0"/>
            </a:endParaRPr>
          </a:p>
        </p:txBody>
      </p:sp>
      <p:sp>
        <p:nvSpPr>
          <p:cNvPr id="16" name="Text 14"/>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DF6EC"/>
                </a:solidFill>
                <a:latin typeface="Nunito Sans" pitchFamily="34" charset="0"/>
                <a:ea typeface="Nunito Sans" pitchFamily="34" charset="-122"/>
                <a:cs typeface="Nunito Sans" pitchFamily="34" charset="-120"/>
              </a:rPr>
              <a:t>App: [enlace /exec] · Repositorio: github.com/jpablovlsqz16/Proyecto-de-aula-gerencia-</a:t>
            </a:r>
            <a:endParaRPr lang="en-US" sz="1200" dirty="0">
              <a:latin typeface="Nunito Sans" charset="0"/>
              <a:ea typeface="Nunito Sans" charset="0"/>
              <a:cs typeface="Nunito Sans" charset="0"/>
            </a:endParaRPr>
          </a:p>
        </p:txBody>
      </p:sp>
    </p:spTree>
  </p:cSld>
  <p:clrMapOvr>
    <a:masterClrMapping/>
  </p:clrMapOvr>
</p:sld>
</file>

<file path=ppt/theme/theme1.xml><?xml version="1.0" encoding="utf-8"?>
<a:theme xmlns:a="http://schemas.openxmlformats.org/drawingml/2006/main" name="Segunda entrega · Tablero Pan Trenza">
  <a:themeElements>
    <a:clrScheme name="Segunda entrega · Tablero Pan Trenza">
      <a:dk1>
        <a:srgbClr val="2A1E16"/>
      </a:dk1>
      <a:lt1>
        <a:srgbClr val="F6EFE3"/>
      </a:lt1>
      <a:dk2>
        <a:srgbClr val="5D5249"/>
      </a:dk2>
      <a:lt2>
        <a:srgbClr val="E2DACF"/>
      </a:lt2>
      <a:accent1>
        <a:srgbClr val="B45309"/>
      </a:accent1>
      <a:accent2>
        <a:srgbClr val="E8A35C"/>
      </a:accent2>
      <a:accent3>
        <a:srgbClr val="2F5D8A"/>
      </a:accent3>
      <a:accent4>
        <a:srgbClr val="D9B48A"/>
      </a:accent4>
      <a:accent5>
        <a:srgbClr val="C9B89F"/>
      </a:accent5>
      <a:accent6>
        <a:srgbClr val="6B5A4A"/>
      </a:accent6>
      <a:hlink>
        <a:srgbClr val="0563C1"/>
      </a:hlink>
      <a:folHlink>
        <a:srgbClr val="954F72"/>
      </a:folHlink>
    </a:clrScheme>
    <a:fontScheme name="Segunda entrega · Tablero Pan Trenza">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Segunda entrega · Tablero Pan Trenza</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Nunito Sans
Copyright 2016 The Nunito Sans Project Authors (https://github.com/Fonthausen/NunitoSans)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2026-10-31T16:39:35Z</dcterms:created>
  <dcterms:modified xsi:type="dcterms:W3CDTF">2026-10-31T16:39:35Z</dcterms:modified>
</cp:coreProperties>
</file>